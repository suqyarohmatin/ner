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Proxima Nova" charset="1" panose="02000506030000020004"/>
      <p:regular r:id="rId18"/>
    </p:embeddedFont>
    <p:embeddedFont>
      <p:font typeface="Bebas Neue Cyrillic" charset="1" panose="02000506000000020004"/>
      <p:regular r:id="rId19"/>
    </p:embeddedFont>
    <p:embeddedFont>
      <p:font typeface="Proxima Nova Bold" charset="1" panose="02000506030000020004"/>
      <p:regular r:id="rId20"/>
    </p:embeddedFont>
    <p:embeddedFont>
      <p:font typeface="Proxima Nova Heavy" charset="1" panose="02000506030000020004"/>
      <p:regular r:id="rId21"/>
    </p:embeddedFont>
    <p:embeddedFont>
      <p:font typeface="League Spartan" charset="1" panose="00000800000000000000"/>
      <p:regular r:id="rId22"/>
    </p:embeddedFont>
    <p:embeddedFont>
      <p:font typeface="Hammersmith One" charset="1" panose="02010703030501060504"/>
      <p:regular r:id="rId23"/>
    </p:embeddedFont>
    <p:embeddedFont>
      <p:font typeface="Arial Unicode" charset="1" panose="020B0604020202020204"/>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DFA"/>
        </a:solidFill>
      </p:bgPr>
    </p:bg>
    <p:spTree>
      <p:nvGrpSpPr>
        <p:cNvPr id="1" name=""/>
        <p:cNvGrpSpPr/>
        <p:nvPr/>
      </p:nvGrpSpPr>
      <p:grpSpPr>
        <a:xfrm>
          <a:off x="0" y="0"/>
          <a:ext cx="0" cy="0"/>
          <a:chOff x="0" y="0"/>
          <a:chExt cx="0" cy="0"/>
        </a:xfrm>
      </p:grpSpPr>
      <p:sp>
        <p:nvSpPr>
          <p:cNvPr name="Freeform 2" id="2"/>
          <p:cNvSpPr/>
          <p:nvPr/>
        </p:nvSpPr>
        <p:spPr>
          <a:xfrm flipH="true" flipV="false" rot="0">
            <a:off x="511157" y="1578783"/>
            <a:ext cx="8064970" cy="7129433"/>
          </a:xfrm>
          <a:custGeom>
            <a:avLst/>
            <a:gdLst/>
            <a:ahLst/>
            <a:cxnLst/>
            <a:rect r="r" b="b" t="t" l="l"/>
            <a:pathLst>
              <a:path h="7129433" w="8064970">
                <a:moveTo>
                  <a:pt x="8064970" y="0"/>
                </a:moveTo>
                <a:lnTo>
                  <a:pt x="0" y="0"/>
                </a:lnTo>
                <a:lnTo>
                  <a:pt x="0" y="7129434"/>
                </a:lnTo>
                <a:lnTo>
                  <a:pt x="8064970" y="7129434"/>
                </a:lnTo>
                <a:lnTo>
                  <a:pt x="806497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205670" y="2685183"/>
            <a:ext cx="4626785" cy="772219"/>
            <a:chOff x="0" y="0"/>
            <a:chExt cx="1218577" cy="203383"/>
          </a:xfrm>
        </p:grpSpPr>
        <p:sp>
          <p:nvSpPr>
            <p:cNvPr name="Freeform 4" id="4"/>
            <p:cNvSpPr/>
            <p:nvPr/>
          </p:nvSpPr>
          <p:spPr>
            <a:xfrm flipH="false" flipV="false" rot="0">
              <a:off x="0" y="0"/>
              <a:ext cx="1218577" cy="203383"/>
            </a:xfrm>
            <a:custGeom>
              <a:avLst/>
              <a:gdLst/>
              <a:ahLst/>
              <a:cxnLst/>
              <a:rect r="r" b="b" t="t" l="l"/>
              <a:pathLst>
                <a:path h="203383" w="1218577">
                  <a:moveTo>
                    <a:pt x="18406" y="0"/>
                  </a:moveTo>
                  <a:lnTo>
                    <a:pt x="1200171" y="0"/>
                  </a:lnTo>
                  <a:cubicBezTo>
                    <a:pt x="1210336" y="0"/>
                    <a:pt x="1218577" y="8241"/>
                    <a:pt x="1218577" y="18406"/>
                  </a:cubicBezTo>
                  <a:lnTo>
                    <a:pt x="1218577" y="184977"/>
                  </a:lnTo>
                  <a:cubicBezTo>
                    <a:pt x="1218577" y="195142"/>
                    <a:pt x="1210336" y="203383"/>
                    <a:pt x="1200171" y="203383"/>
                  </a:cubicBezTo>
                  <a:lnTo>
                    <a:pt x="18406" y="203383"/>
                  </a:lnTo>
                  <a:cubicBezTo>
                    <a:pt x="8241" y="203383"/>
                    <a:pt x="0" y="195142"/>
                    <a:pt x="0" y="184977"/>
                  </a:cubicBezTo>
                  <a:lnTo>
                    <a:pt x="0" y="18406"/>
                  </a:lnTo>
                  <a:cubicBezTo>
                    <a:pt x="0" y="8241"/>
                    <a:pt x="8241" y="0"/>
                    <a:pt x="18406" y="0"/>
                  </a:cubicBezTo>
                  <a:close/>
                </a:path>
              </a:pathLst>
            </a:custGeom>
            <a:solidFill>
              <a:srgbClr val="093A47"/>
            </a:solidFill>
          </p:spPr>
        </p:sp>
        <p:sp>
          <p:nvSpPr>
            <p:cNvPr name="TextBox 5" id="5"/>
            <p:cNvSpPr txBox="true"/>
            <p:nvPr/>
          </p:nvSpPr>
          <p:spPr>
            <a:xfrm>
              <a:off x="0" y="-38100"/>
              <a:ext cx="1218577" cy="241483"/>
            </a:xfrm>
            <a:prstGeom prst="rect">
              <a:avLst/>
            </a:prstGeom>
          </p:spPr>
          <p:txBody>
            <a:bodyPr anchor="ctr" rtlCol="false" tIns="50800" lIns="50800" bIns="50800" rIns="50800"/>
            <a:lstStyle/>
            <a:p>
              <a:pPr algn="ctr">
                <a:lnSpc>
                  <a:spcPts val="2659"/>
                </a:lnSpc>
              </a:pPr>
            </a:p>
          </p:txBody>
        </p:sp>
      </p:grpSp>
      <p:sp>
        <p:nvSpPr>
          <p:cNvPr name="AutoShape 6" id="6"/>
          <p:cNvSpPr/>
          <p:nvPr/>
        </p:nvSpPr>
        <p:spPr>
          <a:xfrm>
            <a:off x="511157" y="9239250"/>
            <a:ext cx="17265685" cy="0"/>
          </a:xfrm>
          <a:prstGeom prst="line">
            <a:avLst/>
          </a:prstGeom>
          <a:ln cap="flat" w="38100">
            <a:solidFill>
              <a:srgbClr val="093A47"/>
            </a:solidFill>
            <a:prstDash val="solid"/>
            <a:headEnd type="none" len="sm" w="sm"/>
            <a:tailEnd type="none" len="sm" w="sm"/>
          </a:ln>
        </p:spPr>
      </p:sp>
      <p:sp>
        <p:nvSpPr>
          <p:cNvPr name="AutoShape 7" id="7"/>
          <p:cNvSpPr/>
          <p:nvPr/>
        </p:nvSpPr>
        <p:spPr>
          <a:xfrm>
            <a:off x="511157" y="1028700"/>
            <a:ext cx="17265685" cy="0"/>
          </a:xfrm>
          <a:prstGeom prst="line">
            <a:avLst/>
          </a:prstGeom>
          <a:ln cap="flat" w="38100">
            <a:solidFill>
              <a:srgbClr val="093A47"/>
            </a:solidFill>
            <a:prstDash val="solid"/>
            <a:headEnd type="none" len="sm" w="sm"/>
            <a:tailEnd type="none" len="sm" w="sm"/>
          </a:ln>
        </p:spPr>
      </p:sp>
      <p:sp>
        <p:nvSpPr>
          <p:cNvPr name="Freeform 8" id="8"/>
          <p:cNvSpPr/>
          <p:nvPr/>
        </p:nvSpPr>
        <p:spPr>
          <a:xfrm flipH="true" flipV="false" rot="0">
            <a:off x="17473987" y="9485033"/>
            <a:ext cx="302856" cy="302856"/>
          </a:xfrm>
          <a:custGeom>
            <a:avLst/>
            <a:gdLst/>
            <a:ahLst/>
            <a:cxnLst/>
            <a:rect r="r" b="b" t="t" l="l"/>
            <a:pathLst>
              <a:path h="302856" w="302856">
                <a:moveTo>
                  <a:pt x="302856" y="0"/>
                </a:moveTo>
                <a:lnTo>
                  <a:pt x="0" y="0"/>
                </a:lnTo>
                <a:lnTo>
                  <a:pt x="0" y="302856"/>
                </a:lnTo>
                <a:lnTo>
                  <a:pt x="302856" y="302856"/>
                </a:lnTo>
                <a:lnTo>
                  <a:pt x="30285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511157" y="359544"/>
            <a:ext cx="458544" cy="431031"/>
          </a:xfrm>
          <a:custGeom>
            <a:avLst/>
            <a:gdLst/>
            <a:ahLst/>
            <a:cxnLst/>
            <a:rect r="r" b="b" t="t" l="l"/>
            <a:pathLst>
              <a:path h="431031" w="458544">
                <a:moveTo>
                  <a:pt x="0" y="0"/>
                </a:moveTo>
                <a:lnTo>
                  <a:pt x="458545" y="0"/>
                </a:lnTo>
                <a:lnTo>
                  <a:pt x="458545" y="431031"/>
                </a:lnTo>
                <a:lnTo>
                  <a:pt x="0" y="43103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1017327" y="377873"/>
            <a:ext cx="1939146" cy="356235"/>
          </a:xfrm>
          <a:prstGeom prst="rect">
            <a:avLst/>
          </a:prstGeom>
        </p:spPr>
        <p:txBody>
          <a:bodyPr anchor="t" rtlCol="false" tIns="0" lIns="0" bIns="0" rIns="0">
            <a:spAutoFit/>
          </a:bodyPr>
          <a:lstStyle/>
          <a:p>
            <a:pPr algn="l">
              <a:lnSpc>
                <a:spcPts val="2940"/>
              </a:lnSpc>
            </a:pPr>
            <a:r>
              <a:rPr lang="en-US" sz="2100">
                <a:solidFill>
                  <a:srgbClr val="093A47"/>
                </a:solidFill>
                <a:latin typeface="Proxima Nova"/>
                <a:ea typeface="Proxima Nova"/>
                <a:cs typeface="Proxima Nova"/>
                <a:sym typeface="Proxima Nova"/>
              </a:rPr>
              <a:t>Data science </a:t>
            </a:r>
          </a:p>
        </p:txBody>
      </p:sp>
      <p:sp>
        <p:nvSpPr>
          <p:cNvPr name="TextBox 11" id="11"/>
          <p:cNvSpPr txBox="true"/>
          <p:nvPr/>
        </p:nvSpPr>
        <p:spPr>
          <a:xfrm rot="0">
            <a:off x="13832455" y="377873"/>
            <a:ext cx="3465731" cy="356272"/>
          </a:xfrm>
          <a:prstGeom prst="rect">
            <a:avLst/>
          </a:prstGeom>
        </p:spPr>
        <p:txBody>
          <a:bodyPr anchor="t" rtlCol="false" tIns="0" lIns="0" bIns="0" rIns="0">
            <a:spAutoFit/>
          </a:bodyPr>
          <a:lstStyle/>
          <a:p>
            <a:pPr algn="r">
              <a:lnSpc>
                <a:spcPts val="2940"/>
              </a:lnSpc>
            </a:pPr>
            <a:r>
              <a:rPr lang="en-US" sz="2100">
                <a:solidFill>
                  <a:srgbClr val="093A47"/>
                </a:solidFill>
                <a:latin typeface="Proxima Nova"/>
                <a:ea typeface="Proxima Nova"/>
                <a:cs typeface="Proxima Nova"/>
                <a:sym typeface="Proxima Nova"/>
              </a:rPr>
              <a:t>Modern Tech Presentation</a:t>
            </a:r>
          </a:p>
        </p:txBody>
      </p:sp>
      <p:sp>
        <p:nvSpPr>
          <p:cNvPr name="TextBox 12" id="12"/>
          <p:cNvSpPr txBox="true"/>
          <p:nvPr/>
        </p:nvSpPr>
        <p:spPr>
          <a:xfrm rot="0">
            <a:off x="9205670" y="3905078"/>
            <a:ext cx="9944167" cy="1927937"/>
          </a:xfrm>
          <a:prstGeom prst="rect">
            <a:avLst/>
          </a:prstGeom>
        </p:spPr>
        <p:txBody>
          <a:bodyPr anchor="t" rtlCol="false" tIns="0" lIns="0" bIns="0" rIns="0">
            <a:spAutoFit/>
          </a:bodyPr>
          <a:lstStyle/>
          <a:p>
            <a:pPr algn="l">
              <a:lnSpc>
                <a:spcPts val="7290"/>
              </a:lnSpc>
            </a:pPr>
            <a:r>
              <a:rPr lang="en-US" sz="8100">
                <a:solidFill>
                  <a:srgbClr val="093A47"/>
                </a:solidFill>
                <a:latin typeface="Bebas Neue Cyrillic"/>
                <a:ea typeface="Bebas Neue Cyrillic"/>
                <a:cs typeface="Bebas Neue Cyrillic"/>
                <a:sym typeface="Bebas Neue Cyrillic"/>
              </a:rPr>
              <a:t>Named entity recognition (NER)-service</a:t>
            </a:r>
          </a:p>
        </p:txBody>
      </p:sp>
      <p:sp>
        <p:nvSpPr>
          <p:cNvPr name="TextBox 13" id="13"/>
          <p:cNvSpPr txBox="true"/>
          <p:nvPr/>
        </p:nvSpPr>
        <p:spPr>
          <a:xfrm rot="0">
            <a:off x="9416511" y="2860747"/>
            <a:ext cx="4205103" cy="554404"/>
          </a:xfrm>
          <a:prstGeom prst="rect">
            <a:avLst/>
          </a:prstGeom>
        </p:spPr>
        <p:txBody>
          <a:bodyPr anchor="t" rtlCol="false" tIns="0" lIns="0" bIns="0" rIns="0">
            <a:spAutoFit/>
          </a:bodyPr>
          <a:lstStyle/>
          <a:p>
            <a:pPr algn="ctr">
              <a:lnSpc>
                <a:spcPts val="4096"/>
              </a:lnSpc>
            </a:pPr>
            <a:r>
              <a:rPr lang="en-US" sz="4551" spc="1001">
                <a:solidFill>
                  <a:srgbClr val="FFFDFA"/>
                </a:solidFill>
                <a:latin typeface="Bebas Neue Cyrillic"/>
                <a:ea typeface="Bebas Neue Cyrillic"/>
                <a:cs typeface="Bebas Neue Cyrillic"/>
                <a:sym typeface="Bebas Neue Cyrillic"/>
              </a:rPr>
              <a:t>Kelompok 7</a:t>
            </a:r>
          </a:p>
        </p:txBody>
      </p:sp>
      <p:grpSp>
        <p:nvGrpSpPr>
          <p:cNvPr name="Group 14" id="14"/>
          <p:cNvGrpSpPr/>
          <p:nvPr/>
        </p:nvGrpSpPr>
        <p:grpSpPr>
          <a:xfrm rot="0">
            <a:off x="17345811" y="359544"/>
            <a:ext cx="431031" cy="431031"/>
            <a:chOff x="0" y="0"/>
            <a:chExt cx="574709" cy="574709"/>
          </a:xfrm>
        </p:grpSpPr>
        <p:grpSp>
          <p:nvGrpSpPr>
            <p:cNvPr name="Group 15" id="15"/>
            <p:cNvGrpSpPr/>
            <p:nvPr/>
          </p:nvGrpSpPr>
          <p:grpSpPr>
            <a:xfrm rot="0">
              <a:off x="0" y="0"/>
              <a:ext cx="574709" cy="574709"/>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93A47"/>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940"/>
                  </a:lnSpc>
                </a:pPr>
              </a:p>
            </p:txBody>
          </p:sp>
        </p:grpSp>
        <p:sp>
          <p:nvSpPr>
            <p:cNvPr name="TextBox 18" id="18"/>
            <p:cNvSpPr txBox="true"/>
            <p:nvPr/>
          </p:nvSpPr>
          <p:spPr>
            <a:xfrm rot="0">
              <a:off x="72174" y="145856"/>
              <a:ext cx="430360" cy="321098"/>
            </a:xfrm>
            <a:prstGeom prst="rect">
              <a:avLst/>
            </a:prstGeom>
          </p:spPr>
          <p:txBody>
            <a:bodyPr anchor="t" rtlCol="false" tIns="0" lIns="0" bIns="0" rIns="0">
              <a:spAutoFit/>
            </a:bodyPr>
            <a:lstStyle/>
            <a:p>
              <a:pPr algn="ctr">
                <a:lnSpc>
                  <a:spcPts val="1639"/>
                </a:lnSpc>
              </a:pPr>
              <a:r>
                <a:rPr lang="en-US" sz="1821">
                  <a:solidFill>
                    <a:srgbClr val="FFFDFA"/>
                  </a:solidFill>
                  <a:latin typeface="Bebas Neue Cyrillic"/>
                  <a:ea typeface="Bebas Neue Cyrillic"/>
                  <a:cs typeface="Bebas Neue Cyrillic"/>
                  <a:sym typeface="Bebas Neue Cyrillic"/>
                </a:rPr>
                <a:t>01</a:t>
              </a:r>
            </a:p>
          </p:txBody>
        </p:sp>
      </p:grpSp>
      <p:sp>
        <p:nvSpPr>
          <p:cNvPr name="TextBox 19" id="19"/>
          <p:cNvSpPr txBox="true"/>
          <p:nvPr/>
        </p:nvSpPr>
        <p:spPr>
          <a:xfrm rot="0">
            <a:off x="9144000" y="6785211"/>
            <a:ext cx="8632843" cy="1309681"/>
          </a:xfrm>
          <a:prstGeom prst="rect">
            <a:avLst/>
          </a:prstGeom>
        </p:spPr>
        <p:txBody>
          <a:bodyPr anchor="t" rtlCol="false" tIns="0" lIns="0" bIns="0" rIns="0">
            <a:spAutoFit/>
          </a:bodyPr>
          <a:lstStyle/>
          <a:p>
            <a:pPr algn="l" marL="546549" indent="-273274" lvl="1">
              <a:lnSpc>
                <a:spcPts val="3544"/>
              </a:lnSpc>
              <a:buAutoNum type="arabicPeriod" startAt="1"/>
            </a:pPr>
            <a:r>
              <a:rPr lang="en-US" sz="2531" spc="75">
                <a:solidFill>
                  <a:srgbClr val="093A47"/>
                </a:solidFill>
                <a:latin typeface="Proxima Nova"/>
                <a:ea typeface="Proxima Nova"/>
                <a:cs typeface="Proxima Nova"/>
                <a:sym typeface="Proxima Nova"/>
              </a:rPr>
              <a:t>Dea Riftya Ananda - 244311008</a:t>
            </a:r>
          </a:p>
          <a:p>
            <a:pPr algn="l" marL="546549" indent="-273274" lvl="1">
              <a:lnSpc>
                <a:spcPts val="3544"/>
              </a:lnSpc>
              <a:buAutoNum type="arabicPeriod" startAt="1"/>
            </a:pPr>
            <a:r>
              <a:rPr lang="en-US" sz="2531" spc="75">
                <a:solidFill>
                  <a:srgbClr val="093A47"/>
                </a:solidFill>
                <a:latin typeface="Proxima Nova"/>
                <a:ea typeface="Proxima Nova"/>
                <a:cs typeface="Proxima Nova"/>
                <a:sym typeface="Proxima Nova"/>
              </a:rPr>
              <a:t>Dila Alif Regita - 244311010</a:t>
            </a:r>
          </a:p>
          <a:p>
            <a:pPr algn="l" marL="546549" indent="-273274" lvl="1">
              <a:lnSpc>
                <a:spcPts val="3544"/>
              </a:lnSpc>
              <a:buAutoNum type="arabicPeriod" startAt="1"/>
            </a:pPr>
            <a:r>
              <a:rPr lang="en-US" sz="2531" spc="75">
                <a:solidFill>
                  <a:srgbClr val="093A47"/>
                </a:solidFill>
                <a:latin typeface="Proxima Nova"/>
                <a:ea typeface="Proxima Nova"/>
                <a:cs typeface="Proxima Nova"/>
                <a:sym typeface="Proxima Nova"/>
              </a:rPr>
              <a:t>Suqya Rohmatin - 244311028</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DFA"/>
        </a:solidFill>
      </p:bgPr>
    </p:bg>
    <p:spTree>
      <p:nvGrpSpPr>
        <p:cNvPr id="1" name=""/>
        <p:cNvGrpSpPr/>
        <p:nvPr/>
      </p:nvGrpSpPr>
      <p:grpSpPr>
        <a:xfrm>
          <a:off x="0" y="0"/>
          <a:ext cx="0" cy="0"/>
          <a:chOff x="0" y="0"/>
          <a:chExt cx="0" cy="0"/>
        </a:xfrm>
      </p:grpSpPr>
      <p:sp>
        <p:nvSpPr>
          <p:cNvPr name="AutoShape 2" id="2"/>
          <p:cNvSpPr/>
          <p:nvPr/>
        </p:nvSpPr>
        <p:spPr>
          <a:xfrm>
            <a:off x="7820628" y="9239250"/>
            <a:ext cx="9956215" cy="0"/>
          </a:xfrm>
          <a:prstGeom prst="line">
            <a:avLst/>
          </a:prstGeom>
          <a:ln cap="flat" w="38100">
            <a:solidFill>
              <a:srgbClr val="093A47"/>
            </a:solidFill>
            <a:prstDash val="solid"/>
            <a:headEnd type="none" len="sm" w="sm"/>
            <a:tailEnd type="none" len="sm" w="sm"/>
          </a:ln>
        </p:spPr>
      </p:sp>
      <p:sp>
        <p:nvSpPr>
          <p:cNvPr name="AutoShape 3" id="3"/>
          <p:cNvSpPr/>
          <p:nvPr/>
        </p:nvSpPr>
        <p:spPr>
          <a:xfrm>
            <a:off x="7820628" y="1028700"/>
            <a:ext cx="9956215" cy="0"/>
          </a:xfrm>
          <a:prstGeom prst="line">
            <a:avLst/>
          </a:prstGeom>
          <a:ln cap="flat" w="38100">
            <a:solidFill>
              <a:srgbClr val="093A47"/>
            </a:solidFill>
            <a:prstDash val="solid"/>
            <a:headEnd type="none" len="sm" w="sm"/>
            <a:tailEnd type="none" len="sm" w="sm"/>
          </a:ln>
        </p:spPr>
      </p:sp>
      <p:sp>
        <p:nvSpPr>
          <p:cNvPr name="Freeform 4" id="4"/>
          <p:cNvSpPr/>
          <p:nvPr/>
        </p:nvSpPr>
        <p:spPr>
          <a:xfrm flipH="true" flipV="false" rot="0">
            <a:off x="17473987" y="9485033"/>
            <a:ext cx="302856" cy="302856"/>
          </a:xfrm>
          <a:custGeom>
            <a:avLst/>
            <a:gdLst/>
            <a:ahLst/>
            <a:cxnLst/>
            <a:rect r="r" b="b" t="t" l="l"/>
            <a:pathLst>
              <a:path h="302856" w="302856">
                <a:moveTo>
                  <a:pt x="302856" y="0"/>
                </a:moveTo>
                <a:lnTo>
                  <a:pt x="0" y="0"/>
                </a:lnTo>
                <a:lnTo>
                  <a:pt x="0" y="302856"/>
                </a:lnTo>
                <a:lnTo>
                  <a:pt x="302856" y="302856"/>
                </a:lnTo>
                <a:lnTo>
                  <a:pt x="302856"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8008988" y="359544"/>
            <a:ext cx="2445315" cy="431031"/>
            <a:chOff x="0" y="0"/>
            <a:chExt cx="3260420" cy="574709"/>
          </a:xfrm>
        </p:grpSpPr>
        <p:sp>
          <p:nvSpPr>
            <p:cNvPr name="Freeform 6" id="6"/>
            <p:cNvSpPr/>
            <p:nvPr/>
          </p:nvSpPr>
          <p:spPr>
            <a:xfrm flipH="false" flipV="false" rot="0">
              <a:off x="0" y="0"/>
              <a:ext cx="611392" cy="574709"/>
            </a:xfrm>
            <a:custGeom>
              <a:avLst/>
              <a:gdLst/>
              <a:ahLst/>
              <a:cxnLst/>
              <a:rect r="r" b="b" t="t" l="l"/>
              <a:pathLst>
                <a:path h="574709" w="611392">
                  <a:moveTo>
                    <a:pt x="0" y="0"/>
                  </a:moveTo>
                  <a:lnTo>
                    <a:pt x="611392" y="0"/>
                  </a:lnTo>
                  <a:lnTo>
                    <a:pt x="611392" y="574709"/>
                  </a:lnTo>
                  <a:lnTo>
                    <a:pt x="0" y="574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674892" y="37140"/>
              <a:ext cx="2585528" cy="462247"/>
            </a:xfrm>
            <a:prstGeom prst="rect">
              <a:avLst/>
            </a:prstGeom>
          </p:spPr>
          <p:txBody>
            <a:bodyPr anchor="t" rtlCol="false" tIns="0" lIns="0" bIns="0" rIns="0">
              <a:spAutoFit/>
            </a:bodyPr>
            <a:lstStyle/>
            <a:p>
              <a:pPr algn="l">
                <a:lnSpc>
                  <a:spcPts val="2940"/>
                </a:lnSpc>
              </a:pPr>
              <a:r>
                <a:rPr lang="en-US" sz="2100">
                  <a:solidFill>
                    <a:srgbClr val="093A47"/>
                  </a:solidFill>
                  <a:latin typeface="Proxima Nova"/>
                  <a:ea typeface="Proxima Nova"/>
                  <a:cs typeface="Proxima Nova"/>
                  <a:sym typeface="Proxima Nova"/>
                </a:rPr>
                <a:t>Data Science</a:t>
              </a:r>
            </a:p>
          </p:txBody>
        </p:sp>
      </p:grpSp>
      <p:grpSp>
        <p:nvGrpSpPr>
          <p:cNvPr name="Group 8" id="8"/>
          <p:cNvGrpSpPr/>
          <p:nvPr/>
        </p:nvGrpSpPr>
        <p:grpSpPr>
          <a:xfrm rot="0">
            <a:off x="17345811" y="359544"/>
            <a:ext cx="431031" cy="4310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93A47"/>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940"/>
                </a:lnSpc>
              </a:pPr>
            </a:p>
          </p:txBody>
        </p:sp>
      </p:grpSp>
      <p:grpSp>
        <p:nvGrpSpPr>
          <p:cNvPr name="Group 11" id="11"/>
          <p:cNvGrpSpPr/>
          <p:nvPr/>
        </p:nvGrpSpPr>
        <p:grpSpPr>
          <a:xfrm rot="0">
            <a:off x="0" y="0"/>
            <a:ext cx="6763852" cy="10287000"/>
            <a:chOff x="0" y="0"/>
            <a:chExt cx="1781426" cy="2709333"/>
          </a:xfrm>
        </p:grpSpPr>
        <p:sp>
          <p:nvSpPr>
            <p:cNvPr name="Freeform 12" id="12"/>
            <p:cNvSpPr/>
            <p:nvPr/>
          </p:nvSpPr>
          <p:spPr>
            <a:xfrm flipH="false" flipV="false" rot="0">
              <a:off x="0" y="0"/>
              <a:ext cx="1781426" cy="2709333"/>
            </a:xfrm>
            <a:custGeom>
              <a:avLst/>
              <a:gdLst/>
              <a:ahLst/>
              <a:cxnLst/>
              <a:rect r="r" b="b" t="t" l="l"/>
              <a:pathLst>
                <a:path h="2709333" w="1781426">
                  <a:moveTo>
                    <a:pt x="0" y="0"/>
                  </a:moveTo>
                  <a:lnTo>
                    <a:pt x="1781426" y="0"/>
                  </a:lnTo>
                  <a:lnTo>
                    <a:pt x="1781426" y="2709333"/>
                  </a:lnTo>
                  <a:lnTo>
                    <a:pt x="0" y="2709333"/>
                  </a:lnTo>
                  <a:close/>
                </a:path>
              </a:pathLst>
            </a:custGeom>
            <a:solidFill>
              <a:srgbClr val="093A47"/>
            </a:solidFill>
          </p:spPr>
        </p:sp>
        <p:sp>
          <p:nvSpPr>
            <p:cNvPr name="TextBox 13" id="13"/>
            <p:cNvSpPr txBox="true"/>
            <p:nvPr/>
          </p:nvSpPr>
          <p:spPr>
            <a:xfrm>
              <a:off x="0" y="-38100"/>
              <a:ext cx="1781426" cy="2747433"/>
            </a:xfrm>
            <a:prstGeom prst="rect">
              <a:avLst/>
            </a:prstGeom>
          </p:spPr>
          <p:txBody>
            <a:bodyPr anchor="ctr" rtlCol="false" tIns="50800" lIns="50800" bIns="50800" rIns="50800"/>
            <a:lstStyle/>
            <a:p>
              <a:pPr algn="ctr">
                <a:lnSpc>
                  <a:spcPts val="2940"/>
                </a:lnSpc>
              </a:pPr>
            </a:p>
          </p:txBody>
        </p:sp>
      </p:grpSp>
      <p:sp>
        <p:nvSpPr>
          <p:cNvPr name="TextBox 14" id="14"/>
          <p:cNvSpPr txBox="true"/>
          <p:nvPr/>
        </p:nvSpPr>
        <p:spPr>
          <a:xfrm rot="0">
            <a:off x="13832455" y="377873"/>
            <a:ext cx="3465731" cy="356272"/>
          </a:xfrm>
          <a:prstGeom prst="rect">
            <a:avLst/>
          </a:prstGeom>
        </p:spPr>
        <p:txBody>
          <a:bodyPr anchor="t" rtlCol="false" tIns="0" lIns="0" bIns="0" rIns="0">
            <a:spAutoFit/>
          </a:bodyPr>
          <a:lstStyle/>
          <a:p>
            <a:pPr algn="r">
              <a:lnSpc>
                <a:spcPts val="2940"/>
              </a:lnSpc>
            </a:pPr>
            <a:r>
              <a:rPr lang="en-US" sz="2100">
                <a:solidFill>
                  <a:srgbClr val="093A47"/>
                </a:solidFill>
                <a:latin typeface="Proxima Nova"/>
                <a:ea typeface="Proxima Nova"/>
                <a:cs typeface="Proxima Nova"/>
                <a:sym typeface="Proxima Nova"/>
              </a:rPr>
              <a:t>Modern Tech Presentation</a:t>
            </a:r>
          </a:p>
        </p:txBody>
      </p:sp>
      <p:sp>
        <p:nvSpPr>
          <p:cNvPr name="TextBox 15" id="15"/>
          <p:cNvSpPr txBox="true"/>
          <p:nvPr/>
        </p:nvSpPr>
        <p:spPr>
          <a:xfrm rot="0">
            <a:off x="17399942" y="478460"/>
            <a:ext cx="322770" cy="231298"/>
          </a:xfrm>
          <a:prstGeom prst="rect">
            <a:avLst/>
          </a:prstGeom>
        </p:spPr>
        <p:txBody>
          <a:bodyPr anchor="t" rtlCol="false" tIns="0" lIns="0" bIns="0" rIns="0">
            <a:spAutoFit/>
          </a:bodyPr>
          <a:lstStyle/>
          <a:p>
            <a:pPr algn="ctr">
              <a:lnSpc>
                <a:spcPts val="1639"/>
              </a:lnSpc>
            </a:pPr>
            <a:r>
              <a:rPr lang="en-US" sz="1821">
                <a:solidFill>
                  <a:srgbClr val="FFFDFA"/>
                </a:solidFill>
                <a:latin typeface="Bebas Neue Cyrillic"/>
                <a:ea typeface="Bebas Neue Cyrillic"/>
                <a:cs typeface="Bebas Neue Cyrillic"/>
                <a:sym typeface="Bebas Neue Cyrillic"/>
              </a:rPr>
              <a:t>02</a:t>
            </a:r>
          </a:p>
        </p:txBody>
      </p:sp>
      <p:sp>
        <p:nvSpPr>
          <p:cNvPr name="TextBox 16" id="16"/>
          <p:cNvSpPr txBox="true"/>
          <p:nvPr/>
        </p:nvSpPr>
        <p:spPr>
          <a:xfrm rot="0">
            <a:off x="560194" y="2083158"/>
            <a:ext cx="5605685" cy="7748801"/>
          </a:xfrm>
          <a:prstGeom prst="rect">
            <a:avLst/>
          </a:prstGeom>
        </p:spPr>
        <p:txBody>
          <a:bodyPr anchor="t" rtlCol="false" tIns="0" lIns="0" bIns="0" rIns="0">
            <a:spAutoFit/>
          </a:bodyPr>
          <a:lstStyle/>
          <a:p>
            <a:pPr algn="just">
              <a:lnSpc>
                <a:spcPts val="3877"/>
              </a:lnSpc>
            </a:pPr>
            <a:r>
              <a:rPr lang="en-US" sz="2769" spc="83">
                <a:solidFill>
                  <a:srgbClr val="FFFDFA"/>
                </a:solidFill>
                <a:latin typeface="Proxima Nova"/>
                <a:ea typeface="Proxima Nova"/>
                <a:cs typeface="Proxima Nova"/>
                <a:sym typeface="Proxima Nova"/>
              </a:rPr>
              <a:t>Artikel berita mengandung berbagai informasi penting, seperti nama orang, organisasi, lokasi, dan tanggal. Mengidentifikasi entitas secara manual dapat membutuhkan waktu yang lama, terutama ketika jumlah artikel banyak. Oleh karena itu, diperlukan pendekatan Natural Language Processing (NLP) khususnya Named Entity Recognition (NER) YANG dapat digunakan untuk mengenali entitas secara otomatis dari teks artikel. </a:t>
            </a:r>
          </a:p>
          <a:p>
            <a:pPr algn="l">
              <a:lnSpc>
                <a:spcPts val="3877"/>
              </a:lnSpc>
            </a:pPr>
          </a:p>
        </p:txBody>
      </p:sp>
      <p:sp>
        <p:nvSpPr>
          <p:cNvPr name="TextBox 17" id="17"/>
          <p:cNvSpPr txBox="true"/>
          <p:nvPr/>
        </p:nvSpPr>
        <p:spPr>
          <a:xfrm rot="0">
            <a:off x="7935966" y="2045447"/>
            <a:ext cx="11529495" cy="711947"/>
          </a:xfrm>
          <a:prstGeom prst="rect">
            <a:avLst/>
          </a:prstGeom>
        </p:spPr>
        <p:txBody>
          <a:bodyPr anchor="t" rtlCol="false" tIns="0" lIns="0" bIns="0" rIns="0">
            <a:spAutoFit/>
          </a:bodyPr>
          <a:lstStyle/>
          <a:p>
            <a:pPr algn="l">
              <a:lnSpc>
                <a:spcPts val="5118"/>
              </a:lnSpc>
            </a:pPr>
            <a:r>
              <a:rPr lang="en-US" sz="5686">
                <a:solidFill>
                  <a:srgbClr val="093A47"/>
                </a:solidFill>
                <a:latin typeface="Bebas Neue Cyrillic"/>
                <a:ea typeface="Bebas Neue Cyrillic"/>
                <a:cs typeface="Bebas Neue Cyrillic"/>
                <a:sym typeface="Bebas Neue Cyrillic"/>
              </a:rPr>
              <a:t>TUJUAN</a:t>
            </a:r>
          </a:p>
        </p:txBody>
      </p:sp>
      <p:sp>
        <p:nvSpPr>
          <p:cNvPr name="TextBox 18" id="18"/>
          <p:cNvSpPr txBox="true"/>
          <p:nvPr/>
        </p:nvSpPr>
        <p:spPr>
          <a:xfrm rot="0">
            <a:off x="7935966" y="3617476"/>
            <a:ext cx="751737" cy="644419"/>
          </a:xfrm>
          <a:prstGeom prst="rect">
            <a:avLst/>
          </a:prstGeom>
        </p:spPr>
        <p:txBody>
          <a:bodyPr anchor="t" rtlCol="false" tIns="0" lIns="0" bIns="0" rIns="0">
            <a:spAutoFit/>
          </a:bodyPr>
          <a:lstStyle/>
          <a:p>
            <a:pPr algn="ctr">
              <a:lnSpc>
                <a:spcPts val="4648"/>
              </a:lnSpc>
            </a:pPr>
            <a:r>
              <a:rPr lang="en-US" sz="5164">
                <a:solidFill>
                  <a:srgbClr val="0C586D"/>
                </a:solidFill>
                <a:latin typeface="Bebas Neue Cyrillic"/>
                <a:ea typeface="Bebas Neue Cyrillic"/>
                <a:cs typeface="Bebas Neue Cyrillic"/>
                <a:sym typeface="Bebas Neue Cyrillic"/>
              </a:rPr>
              <a:t>01.</a:t>
            </a:r>
          </a:p>
        </p:txBody>
      </p:sp>
      <p:sp>
        <p:nvSpPr>
          <p:cNvPr name="TextBox 19" id="19"/>
          <p:cNvSpPr txBox="true"/>
          <p:nvPr/>
        </p:nvSpPr>
        <p:spPr>
          <a:xfrm rot="0">
            <a:off x="7935966" y="6664930"/>
            <a:ext cx="751737" cy="644419"/>
          </a:xfrm>
          <a:prstGeom prst="rect">
            <a:avLst/>
          </a:prstGeom>
        </p:spPr>
        <p:txBody>
          <a:bodyPr anchor="t" rtlCol="false" tIns="0" lIns="0" bIns="0" rIns="0">
            <a:spAutoFit/>
          </a:bodyPr>
          <a:lstStyle/>
          <a:p>
            <a:pPr algn="ctr">
              <a:lnSpc>
                <a:spcPts val="4648"/>
              </a:lnSpc>
            </a:pPr>
            <a:r>
              <a:rPr lang="en-US" sz="5164">
                <a:solidFill>
                  <a:srgbClr val="0C586D"/>
                </a:solidFill>
                <a:latin typeface="Bebas Neue Cyrillic"/>
                <a:ea typeface="Bebas Neue Cyrillic"/>
                <a:cs typeface="Bebas Neue Cyrillic"/>
                <a:sym typeface="Bebas Neue Cyrillic"/>
              </a:rPr>
              <a:t>03.</a:t>
            </a:r>
          </a:p>
        </p:txBody>
      </p:sp>
      <p:sp>
        <p:nvSpPr>
          <p:cNvPr name="TextBox 20" id="20"/>
          <p:cNvSpPr txBox="true"/>
          <p:nvPr/>
        </p:nvSpPr>
        <p:spPr>
          <a:xfrm rot="0">
            <a:off x="13456586" y="3738468"/>
            <a:ext cx="751737" cy="644419"/>
          </a:xfrm>
          <a:prstGeom prst="rect">
            <a:avLst/>
          </a:prstGeom>
        </p:spPr>
        <p:txBody>
          <a:bodyPr anchor="t" rtlCol="false" tIns="0" lIns="0" bIns="0" rIns="0">
            <a:spAutoFit/>
          </a:bodyPr>
          <a:lstStyle/>
          <a:p>
            <a:pPr algn="ctr">
              <a:lnSpc>
                <a:spcPts val="4648"/>
              </a:lnSpc>
            </a:pPr>
            <a:r>
              <a:rPr lang="en-US" sz="5164">
                <a:solidFill>
                  <a:srgbClr val="0C586D"/>
                </a:solidFill>
                <a:latin typeface="Bebas Neue Cyrillic"/>
                <a:ea typeface="Bebas Neue Cyrillic"/>
                <a:cs typeface="Bebas Neue Cyrillic"/>
                <a:sym typeface="Bebas Neue Cyrillic"/>
              </a:rPr>
              <a:t>02.</a:t>
            </a:r>
          </a:p>
        </p:txBody>
      </p:sp>
      <p:sp>
        <p:nvSpPr>
          <p:cNvPr name="TextBox 21" id="21"/>
          <p:cNvSpPr txBox="true"/>
          <p:nvPr/>
        </p:nvSpPr>
        <p:spPr>
          <a:xfrm rot="0">
            <a:off x="13043261" y="6675318"/>
            <a:ext cx="751737" cy="644419"/>
          </a:xfrm>
          <a:prstGeom prst="rect">
            <a:avLst/>
          </a:prstGeom>
        </p:spPr>
        <p:txBody>
          <a:bodyPr anchor="t" rtlCol="false" tIns="0" lIns="0" bIns="0" rIns="0">
            <a:spAutoFit/>
          </a:bodyPr>
          <a:lstStyle/>
          <a:p>
            <a:pPr algn="ctr">
              <a:lnSpc>
                <a:spcPts val="4648"/>
              </a:lnSpc>
            </a:pPr>
            <a:r>
              <a:rPr lang="en-US" sz="5164">
                <a:solidFill>
                  <a:srgbClr val="0C586D"/>
                </a:solidFill>
                <a:latin typeface="Bebas Neue Cyrillic"/>
                <a:ea typeface="Bebas Neue Cyrillic"/>
                <a:cs typeface="Bebas Neue Cyrillic"/>
                <a:sym typeface="Bebas Neue Cyrillic"/>
              </a:rPr>
              <a:t>04.</a:t>
            </a:r>
          </a:p>
        </p:txBody>
      </p:sp>
      <p:sp>
        <p:nvSpPr>
          <p:cNvPr name="TextBox 22" id="22"/>
          <p:cNvSpPr txBox="true"/>
          <p:nvPr/>
        </p:nvSpPr>
        <p:spPr>
          <a:xfrm rot="0">
            <a:off x="8772034" y="3457794"/>
            <a:ext cx="3036540" cy="1820360"/>
          </a:xfrm>
          <a:prstGeom prst="rect">
            <a:avLst/>
          </a:prstGeom>
        </p:spPr>
        <p:txBody>
          <a:bodyPr anchor="t" rtlCol="false" tIns="0" lIns="0" bIns="0" rIns="0">
            <a:spAutoFit/>
          </a:bodyPr>
          <a:lstStyle/>
          <a:p>
            <a:pPr algn="just">
              <a:lnSpc>
                <a:spcPts val="3609"/>
              </a:lnSpc>
            </a:pPr>
            <a:r>
              <a:rPr lang="en-US" b="true" sz="2578" spc="51">
                <a:solidFill>
                  <a:srgbClr val="093A47"/>
                </a:solidFill>
                <a:latin typeface="Proxima Nova Bold"/>
                <a:ea typeface="Proxima Nova Bold"/>
                <a:cs typeface="Proxima Nova Bold"/>
                <a:sym typeface="Proxima Nova Bold"/>
              </a:rPr>
              <a:t>M</a:t>
            </a:r>
            <a:r>
              <a:rPr lang="en-US" b="true" sz="2578" spc="51">
                <a:solidFill>
                  <a:srgbClr val="093A47"/>
                </a:solidFill>
                <a:latin typeface="Proxima Nova Bold"/>
                <a:ea typeface="Proxima Nova Bold"/>
                <a:cs typeface="Proxima Nova Bold"/>
                <a:sym typeface="Proxima Nova Bold"/>
              </a:rPr>
              <a:t>engembangkan layanan Named-Entity Recognition (NER)</a:t>
            </a:r>
          </a:p>
        </p:txBody>
      </p:sp>
      <p:sp>
        <p:nvSpPr>
          <p:cNvPr name="TextBox 23" id="23"/>
          <p:cNvSpPr txBox="true"/>
          <p:nvPr/>
        </p:nvSpPr>
        <p:spPr>
          <a:xfrm rot="0">
            <a:off x="8897254" y="6546269"/>
            <a:ext cx="3772294" cy="906014"/>
          </a:xfrm>
          <a:prstGeom prst="rect">
            <a:avLst/>
          </a:prstGeom>
        </p:spPr>
        <p:txBody>
          <a:bodyPr anchor="t" rtlCol="false" tIns="0" lIns="0" bIns="0" rIns="0">
            <a:spAutoFit/>
          </a:bodyPr>
          <a:lstStyle/>
          <a:p>
            <a:pPr algn="l">
              <a:lnSpc>
                <a:spcPts val="3609"/>
              </a:lnSpc>
            </a:pPr>
            <a:r>
              <a:rPr lang="en-US" sz="2578" spc="51" b="true">
                <a:solidFill>
                  <a:srgbClr val="093A47"/>
                </a:solidFill>
                <a:latin typeface="Proxima Nova Bold"/>
                <a:ea typeface="Proxima Nova Bold"/>
                <a:cs typeface="Proxima Nova Bold"/>
                <a:sym typeface="Proxima Nova Bold"/>
              </a:rPr>
              <a:t>Melakukan evaluasi kinerja model</a:t>
            </a:r>
          </a:p>
        </p:txBody>
      </p:sp>
      <p:sp>
        <p:nvSpPr>
          <p:cNvPr name="TextBox 24" id="24"/>
          <p:cNvSpPr txBox="true"/>
          <p:nvPr/>
        </p:nvSpPr>
        <p:spPr>
          <a:xfrm rot="0">
            <a:off x="14306985" y="3547968"/>
            <a:ext cx="3587383" cy="1820360"/>
          </a:xfrm>
          <a:prstGeom prst="rect">
            <a:avLst/>
          </a:prstGeom>
        </p:spPr>
        <p:txBody>
          <a:bodyPr anchor="t" rtlCol="false" tIns="0" lIns="0" bIns="0" rIns="0">
            <a:spAutoFit/>
          </a:bodyPr>
          <a:lstStyle/>
          <a:p>
            <a:pPr algn="just">
              <a:lnSpc>
                <a:spcPts val="3609"/>
              </a:lnSpc>
            </a:pPr>
            <a:r>
              <a:rPr lang="en-US" b="true" sz="2578" spc="51">
                <a:solidFill>
                  <a:srgbClr val="093A47"/>
                </a:solidFill>
                <a:latin typeface="Proxima Nova Bold"/>
                <a:ea typeface="Proxima Nova Bold"/>
                <a:cs typeface="Proxima Nova Bold"/>
                <a:sym typeface="Proxima Nova Bold"/>
              </a:rPr>
              <a:t>Melatih atau mengadaptasi model menggunnakan data yang sudah disediakan</a:t>
            </a:r>
          </a:p>
        </p:txBody>
      </p:sp>
      <p:sp>
        <p:nvSpPr>
          <p:cNvPr name="TextBox 25" id="25"/>
          <p:cNvSpPr txBox="true"/>
          <p:nvPr/>
        </p:nvSpPr>
        <p:spPr>
          <a:xfrm rot="0">
            <a:off x="14004549" y="6556657"/>
            <a:ext cx="3772294" cy="1363187"/>
          </a:xfrm>
          <a:prstGeom prst="rect">
            <a:avLst/>
          </a:prstGeom>
        </p:spPr>
        <p:txBody>
          <a:bodyPr anchor="t" rtlCol="false" tIns="0" lIns="0" bIns="0" rIns="0">
            <a:spAutoFit/>
          </a:bodyPr>
          <a:lstStyle/>
          <a:p>
            <a:pPr algn="l">
              <a:lnSpc>
                <a:spcPts val="3609"/>
              </a:lnSpc>
            </a:pPr>
            <a:r>
              <a:rPr lang="en-US" sz="2578" spc="51" b="true">
                <a:solidFill>
                  <a:srgbClr val="093A47"/>
                </a:solidFill>
                <a:latin typeface="Proxima Nova Bold"/>
                <a:ea typeface="Proxima Nova Bold"/>
                <a:cs typeface="Proxima Nova Bold"/>
                <a:sym typeface="Proxima Nova Bold"/>
              </a:rPr>
              <a:t>Mengintegrasikan model ke dalam layanan web</a:t>
            </a:r>
          </a:p>
        </p:txBody>
      </p:sp>
      <p:sp>
        <p:nvSpPr>
          <p:cNvPr name="TextBox 26" id="26"/>
          <p:cNvSpPr txBox="true"/>
          <p:nvPr/>
        </p:nvSpPr>
        <p:spPr>
          <a:xfrm rot="0">
            <a:off x="455016" y="1181100"/>
            <a:ext cx="6308836" cy="711947"/>
          </a:xfrm>
          <a:prstGeom prst="rect">
            <a:avLst/>
          </a:prstGeom>
        </p:spPr>
        <p:txBody>
          <a:bodyPr anchor="t" rtlCol="false" tIns="0" lIns="0" bIns="0" rIns="0">
            <a:spAutoFit/>
          </a:bodyPr>
          <a:lstStyle/>
          <a:p>
            <a:pPr algn="l">
              <a:lnSpc>
                <a:spcPts val="5118"/>
              </a:lnSpc>
            </a:pPr>
            <a:r>
              <a:rPr lang="en-US" sz="5686">
                <a:solidFill>
                  <a:srgbClr val="FFFDFA"/>
                </a:solidFill>
                <a:latin typeface="Bebas Neue Cyrillic"/>
                <a:ea typeface="Bebas Neue Cyrillic"/>
                <a:cs typeface="Bebas Neue Cyrillic"/>
                <a:sym typeface="Bebas Neue Cyrillic"/>
              </a:rPr>
              <a:t>Latar bELAKANG masalah</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DFA"/>
        </a:solidFill>
      </p:bgPr>
    </p:bg>
    <p:spTree>
      <p:nvGrpSpPr>
        <p:cNvPr id="1" name=""/>
        <p:cNvGrpSpPr/>
        <p:nvPr/>
      </p:nvGrpSpPr>
      <p:grpSpPr>
        <a:xfrm>
          <a:off x="0" y="0"/>
          <a:ext cx="0" cy="0"/>
          <a:chOff x="0" y="0"/>
          <a:chExt cx="0" cy="0"/>
        </a:xfrm>
      </p:grpSpPr>
      <p:sp>
        <p:nvSpPr>
          <p:cNvPr name="AutoShape 2" id="2"/>
          <p:cNvSpPr/>
          <p:nvPr/>
        </p:nvSpPr>
        <p:spPr>
          <a:xfrm>
            <a:off x="511157" y="9239250"/>
            <a:ext cx="17265685" cy="0"/>
          </a:xfrm>
          <a:prstGeom prst="line">
            <a:avLst/>
          </a:prstGeom>
          <a:ln cap="flat" w="38100">
            <a:solidFill>
              <a:srgbClr val="093A47"/>
            </a:solidFill>
            <a:prstDash val="solid"/>
            <a:headEnd type="none" len="sm" w="sm"/>
            <a:tailEnd type="none" len="sm" w="sm"/>
          </a:ln>
        </p:spPr>
      </p:sp>
      <p:sp>
        <p:nvSpPr>
          <p:cNvPr name="AutoShape 3" id="3"/>
          <p:cNvSpPr/>
          <p:nvPr/>
        </p:nvSpPr>
        <p:spPr>
          <a:xfrm>
            <a:off x="511157" y="1028700"/>
            <a:ext cx="17265685" cy="0"/>
          </a:xfrm>
          <a:prstGeom prst="line">
            <a:avLst/>
          </a:prstGeom>
          <a:ln cap="flat" w="38100">
            <a:solidFill>
              <a:srgbClr val="093A47"/>
            </a:solidFill>
            <a:prstDash val="solid"/>
            <a:headEnd type="none" len="sm" w="sm"/>
            <a:tailEnd type="none" len="sm" w="sm"/>
          </a:ln>
        </p:spPr>
      </p:sp>
      <p:sp>
        <p:nvSpPr>
          <p:cNvPr name="Freeform 4" id="4"/>
          <p:cNvSpPr/>
          <p:nvPr/>
        </p:nvSpPr>
        <p:spPr>
          <a:xfrm flipH="true" flipV="false" rot="0">
            <a:off x="17473987" y="9485033"/>
            <a:ext cx="302856" cy="302856"/>
          </a:xfrm>
          <a:custGeom>
            <a:avLst/>
            <a:gdLst/>
            <a:ahLst/>
            <a:cxnLst/>
            <a:rect r="r" b="b" t="t" l="l"/>
            <a:pathLst>
              <a:path h="302856" w="302856">
                <a:moveTo>
                  <a:pt x="302856" y="0"/>
                </a:moveTo>
                <a:lnTo>
                  <a:pt x="0" y="0"/>
                </a:lnTo>
                <a:lnTo>
                  <a:pt x="0" y="302856"/>
                </a:lnTo>
                <a:lnTo>
                  <a:pt x="302856" y="302856"/>
                </a:lnTo>
                <a:lnTo>
                  <a:pt x="30285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511157" y="359544"/>
            <a:ext cx="458544" cy="431031"/>
          </a:xfrm>
          <a:custGeom>
            <a:avLst/>
            <a:gdLst/>
            <a:ahLst/>
            <a:cxnLst/>
            <a:rect r="r" b="b" t="t" l="l"/>
            <a:pathLst>
              <a:path h="431031" w="458544">
                <a:moveTo>
                  <a:pt x="0" y="0"/>
                </a:moveTo>
                <a:lnTo>
                  <a:pt x="458545" y="0"/>
                </a:lnTo>
                <a:lnTo>
                  <a:pt x="458545" y="431031"/>
                </a:lnTo>
                <a:lnTo>
                  <a:pt x="0" y="4310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7345811" y="359544"/>
            <a:ext cx="431031" cy="43103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93A47"/>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940"/>
                </a:lnSpc>
              </a:pPr>
            </a:p>
          </p:txBody>
        </p:sp>
      </p:grpSp>
      <p:sp>
        <p:nvSpPr>
          <p:cNvPr name="Freeform 9" id="9"/>
          <p:cNvSpPr/>
          <p:nvPr/>
        </p:nvSpPr>
        <p:spPr>
          <a:xfrm flipH="true" flipV="false" rot="0">
            <a:off x="9806543" y="1285875"/>
            <a:ext cx="7970300" cy="7715250"/>
          </a:xfrm>
          <a:custGeom>
            <a:avLst/>
            <a:gdLst/>
            <a:ahLst/>
            <a:cxnLst/>
            <a:rect r="r" b="b" t="t" l="l"/>
            <a:pathLst>
              <a:path h="7715250" w="7970300">
                <a:moveTo>
                  <a:pt x="7970300" y="0"/>
                </a:moveTo>
                <a:lnTo>
                  <a:pt x="0" y="0"/>
                </a:lnTo>
                <a:lnTo>
                  <a:pt x="0" y="7715250"/>
                </a:lnTo>
                <a:lnTo>
                  <a:pt x="7970300" y="7715250"/>
                </a:lnTo>
                <a:lnTo>
                  <a:pt x="797030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1017327" y="377873"/>
            <a:ext cx="1939146" cy="356210"/>
          </a:xfrm>
          <a:prstGeom prst="rect">
            <a:avLst/>
          </a:prstGeom>
        </p:spPr>
        <p:txBody>
          <a:bodyPr anchor="t" rtlCol="false" tIns="0" lIns="0" bIns="0" rIns="0">
            <a:spAutoFit/>
          </a:bodyPr>
          <a:lstStyle/>
          <a:p>
            <a:pPr algn="l">
              <a:lnSpc>
                <a:spcPts val="2940"/>
              </a:lnSpc>
            </a:pPr>
            <a:r>
              <a:rPr lang="en-US" sz="2100">
                <a:solidFill>
                  <a:srgbClr val="093A47"/>
                </a:solidFill>
                <a:latin typeface="Proxima Nova"/>
                <a:ea typeface="Proxima Nova"/>
                <a:cs typeface="Proxima Nova"/>
                <a:sym typeface="Proxima Nova"/>
              </a:rPr>
              <a:t>Data Science</a:t>
            </a:r>
          </a:p>
        </p:txBody>
      </p:sp>
      <p:sp>
        <p:nvSpPr>
          <p:cNvPr name="TextBox 11" id="11"/>
          <p:cNvSpPr txBox="true"/>
          <p:nvPr/>
        </p:nvSpPr>
        <p:spPr>
          <a:xfrm rot="0">
            <a:off x="13832455" y="377873"/>
            <a:ext cx="3465731" cy="356272"/>
          </a:xfrm>
          <a:prstGeom prst="rect">
            <a:avLst/>
          </a:prstGeom>
        </p:spPr>
        <p:txBody>
          <a:bodyPr anchor="t" rtlCol="false" tIns="0" lIns="0" bIns="0" rIns="0">
            <a:spAutoFit/>
          </a:bodyPr>
          <a:lstStyle/>
          <a:p>
            <a:pPr algn="r">
              <a:lnSpc>
                <a:spcPts val="2940"/>
              </a:lnSpc>
            </a:pPr>
            <a:r>
              <a:rPr lang="en-US" sz="2100">
                <a:solidFill>
                  <a:srgbClr val="093A47"/>
                </a:solidFill>
                <a:latin typeface="Proxima Nova"/>
                <a:ea typeface="Proxima Nova"/>
                <a:cs typeface="Proxima Nova"/>
                <a:sym typeface="Proxima Nova"/>
              </a:rPr>
              <a:t>Modern Tech Presentation</a:t>
            </a:r>
          </a:p>
        </p:txBody>
      </p:sp>
      <p:sp>
        <p:nvSpPr>
          <p:cNvPr name="TextBox 12" id="12"/>
          <p:cNvSpPr txBox="true"/>
          <p:nvPr/>
        </p:nvSpPr>
        <p:spPr>
          <a:xfrm rot="0">
            <a:off x="17399942" y="478460"/>
            <a:ext cx="322770" cy="231298"/>
          </a:xfrm>
          <a:prstGeom prst="rect">
            <a:avLst/>
          </a:prstGeom>
        </p:spPr>
        <p:txBody>
          <a:bodyPr anchor="t" rtlCol="false" tIns="0" lIns="0" bIns="0" rIns="0">
            <a:spAutoFit/>
          </a:bodyPr>
          <a:lstStyle/>
          <a:p>
            <a:pPr algn="ctr">
              <a:lnSpc>
                <a:spcPts val="1639"/>
              </a:lnSpc>
            </a:pPr>
            <a:r>
              <a:rPr lang="en-US" sz="1821">
                <a:solidFill>
                  <a:srgbClr val="FFFDFA"/>
                </a:solidFill>
                <a:latin typeface="Bebas Neue Cyrillic"/>
                <a:ea typeface="Bebas Neue Cyrillic"/>
                <a:cs typeface="Bebas Neue Cyrillic"/>
                <a:sym typeface="Bebas Neue Cyrillic"/>
              </a:rPr>
              <a:t>03</a:t>
            </a:r>
          </a:p>
        </p:txBody>
      </p:sp>
      <p:sp>
        <p:nvSpPr>
          <p:cNvPr name="TextBox 13" id="13"/>
          <p:cNvSpPr txBox="true"/>
          <p:nvPr/>
        </p:nvSpPr>
        <p:spPr>
          <a:xfrm rot="0">
            <a:off x="511157" y="1583467"/>
            <a:ext cx="8772536" cy="1052601"/>
          </a:xfrm>
          <a:prstGeom prst="rect">
            <a:avLst/>
          </a:prstGeom>
        </p:spPr>
        <p:txBody>
          <a:bodyPr anchor="t" rtlCol="false" tIns="0" lIns="0" bIns="0" rIns="0">
            <a:spAutoFit/>
          </a:bodyPr>
          <a:lstStyle/>
          <a:p>
            <a:pPr algn="l">
              <a:lnSpc>
                <a:spcPts val="7548"/>
              </a:lnSpc>
            </a:pPr>
            <a:r>
              <a:rPr lang="en-US" sz="8386">
                <a:solidFill>
                  <a:srgbClr val="093A47"/>
                </a:solidFill>
                <a:latin typeface="Bebas Neue Cyrillic"/>
                <a:ea typeface="Bebas Neue Cyrillic"/>
                <a:cs typeface="Bebas Neue Cyrillic"/>
                <a:sym typeface="Bebas Neue Cyrillic"/>
              </a:rPr>
              <a:t>Dataset Yang digunakan</a:t>
            </a:r>
          </a:p>
        </p:txBody>
      </p:sp>
      <p:grpSp>
        <p:nvGrpSpPr>
          <p:cNvPr name="Group 14" id="14"/>
          <p:cNvGrpSpPr/>
          <p:nvPr/>
        </p:nvGrpSpPr>
        <p:grpSpPr>
          <a:xfrm rot="0">
            <a:off x="511157" y="2636068"/>
            <a:ext cx="8772536" cy="5139712"/>
            <a:chOff x="0" y="0"/>
            <a:chExt cx="2310462" cy="1353669"/>
          </a:xfrm>
        </p:grpSpPr>
        <p:sp>
          <p:nvSpPr>
            <p:cNvPr name="Freeform 15" id="15"/>
            <p:cNvSpPr/>
            <p:nvPr/>
          </p:nvSpPr>
          <p:spPr>
            <a:xfrm flipH="false" flipV="false" rot="0">
              <a:off x="0" y="0"/>
              <a:ext cx="2310462" cy="1353669"/>
            </a:xfrm>
            <a:custGeom>
              <a:avLst/>
              <a:gdLst/>
              <a:ahLst/>
              <a:cxnLst/>
              <a:rect r="r" b="b" t="t" l="l"/>
              <a:pathLst>
                <a:path h="1353669" w="2310462">
                  <a:moveTo>
                    <a:pt x="0" y="0"/>
                  </a:moveTo>
                  <a:lnTo>
                    <a:pt x="2310462" y="0"/>
                  </a:lnTo>
                  <a:lnTo>
                    <a:pt x="2310462" y="1353669"/>
                  </a:lnTo>
                  <a:lnTo>
                    <a:pt x="0" y="1353669"/>
                  </a:lnTo>
                  <a:close/>
                </a:path>
              </a:pathLst>
            </a:custGeom>
            <a:solidFill>
              <a:srgbClr val="0C586D"/>
            </a:solidFill>
          </p:spPr>
        </p:sp>
        <p:sp>
          <p:nvSpPr>
            <p:cNvPr name="TextBox 16" id="16"/>
            <p:cNvSpPr txBox="true"/>
            <p:nvPr/>
          </p:nvSpPr>
          <p:spPr>
            <a:xfrm>
              <a:off x="0" y="-38100"/>
              <a:ext cx="2310462" cy="1391769"/>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017327" y="3419314"/>
            <a:ext cx="7788833" cy="3525596"/>
          </a:xfrm>
          <a:prstGeom prst="rect">
            <a:avLst/>
          </a:prstGeom>
        </p:spPr>
        <p:txBody>
          <a:bodyPr anchor="t" rtlCol="false" tIns="0" lIns="0" bIns="0" rIns="0">
            <a:spAutoFit/>
          </a:bodyPr>
          <a:lstStyle/>
          <a:p>
            <a:pPr algn="l">
              <a:lnSpc>
                <a:spcPts val="3530"/>
              </a:lnSpc>
            </a:pPr>
            <a:r>
              <a:rPr lang="en-US" sz="2521" spc="75">
                <a:solidFill>
                  <a:srgbClr val="FFFDFA"/>
                </a:solidFill>
                <a:latin typeface="Proxima Nova"/>
                <a:ea typeface="Proxima Nova"/>
                <a:cs typeface="Proxima Nova"/>
                <a:sym typeface="Proxima Nova"/>
              </a:rPr>
              <a:t>Dataset yang digunakan berupa file CSV berisikan kumpulan artikel berdasarkan clipping berita terkait Maybank Malaysia. Ada sebanyak 8 file CSV yang akan diolah dan digunakan.</a:t>
            </a:r>
          </a:p>
          <a:p>
            <a:pPr algn="l">
              <a:lnSpc>
                <a:spcPts val="3530"/>
              </a:lnSpc>
            </a:pPr>
          </a:p>
          <a:p>
            <a:pPr algn="l">
              <a:lnSpc>
                <a:spcPts val="3530"/>
              </a:lnSpc>
            </a:pPr>
            <a:r>
              <a:rPr lang="en-US" sz="2521" spc="75" b="true">
                <a:solidFill>
                  <a:srgbClr val="FFFDFA"/>
                </a:solidFill>
                <a:latin typeface="Proxima Nova Bold"/>
                <a:ea typeface="Proxima Nova Bold"/>
                <a:cs typeface="Proxima Nova Bold"/>
                <a:sym typeface="Proxima Nova Bold"/>
              </a:rPr>
              <a:t>Topik</a:t>
            </a:r>
            <a:r>
              <a:rPr lang="en-US" sz="2521" spc="75">
                <a:solidFill>
                  <a:srgbClr val="FFFDFA"/>
                </a:solidFill>
                <a:latin typeface="Proxima Nova"/>
                <a:ea typeface="Proxima Nova"/>
                <a:cs typeface="Proxima Nova"/>
                <a:sym typeface="Proxima Nova"/>
              </a:rPr>
              <a:t>: Hong Leong Bank, CIMB Group Malaysia, Public Bank Berhad, RHB Bank, MDV, Maybank CSR, Maybank Foundation, dan Maybank Group.</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DFA"/>
        </a:solidFill>
      </p:bgPr>
    </p:bg>
    <p:spTree>
      <p:nvGrpSpPr>
        <p:cNvPr id="1" name=""/>
        <p:cNvGrpSpPr/>
        <p:nvPr/>
      </p:nvGrpSpPr>
      <p:grpSpPr>
        <a:xfrm>
          <a:off x="0" y="0"/>
          <a:ext cx="0" cy="0"/>
          <a:chOff x="0" y="0"/>
          <a:chExt cx="0" cy="0"/>
        </a:xfrm>
      </p:grpSpPr>
      <p:sp>
        <p:nvSpPr>
          <p:cNvPr name="AutoShape 2" id="2"/>
          <p:cNvSpPr/>
          <p:nvPr/>
        </p:nvSpPr>
        <p:spPr>
          <a:xfrm>
            <a:off x="512213" y="9725816"/>
            <a:ext cx="17265685" cy="0"/>
          </a:xfrm>
          <a:prstGeom prst="line">
            <a:avLst/>
          </a:prstGeom>
          <a:ln cap="flat" w="38100">
            <a:solidFill>
              <a:srgbClr val="093A47"/>
            </a:solidFill>
            <a:prstDash val="solid"/>
            <a:headEnd type="none" len="sm" w="sm"/>
            <a:tailEnd type="none" len="sm" w="sm"/>
          </a:ln>
        </p:spPr>
      </p:sp>
      <p:sp>
        <p:nvSpPr>
          <p:cNvPr name="AutoShape 3" id="3"/>
          <p:cNvSpPr/>
          <p:nvPr/>
        </p:nvSpPr>
        <p:spPr>
          <a:xfrm>
            <a:off x="511157" y="1028700"/>
            <a:ext cx="17265685" cy="0"/>
          </a:xfrm>
          <a:prstGeom prst="line">
            <a:avLst/>
          </a:prstGeom>
          <a:ln cap="flat" w="38100">
            <a:solidFill>
              <a:srgbClr val="093A47"/>
            </a:solidFill>
            <a:prstDash val="solid"/>
            <a:headEnd type="none" len="sm" w="sm"/>
            <a:tailEnd type="none" len="sm" w="sm"/>
          </a:ln>
        </p:spPr>
      </p:sp>
      <p:sp>
        <p:nvSpPr>
          <p:cNvPr name="Freeform 4" id="4"/>
          <p:cNvSpPr/>
          <p:nvPr/>
        </p:nvSpPr>
        <p:spPr>
          <a:xfrm flipH="true" flipV="false" rot="0">
            <a:off x="17429517" y="9851717"/>
            <a:ext cx="293194" cy="293194"/>
          </a:xfrm>
          <a:custGeom>
            <a:avLst/>
            <a:gdLst/>
            <a:ahLst/>
            <a:cxnLst/>
            <a:rect r="r" b="b" t="t" l="l"/>
            <a:pathLst>
              <a:path h="293194" w="293194">
                <a:moveTo>
                  <a:pt x="293195" y="0"/>
                </a:moveTo>
                <a:lnTo>
                  <a:pt x="0" y="0"/>
                </a:lnTo>
                <a:lnTo>
                  <a:pt x="0" y="293194"/>
                </a:lnTo>
                <a:lnTo>
                  <a:pt x="293195" y="293194"/>
                </a:lnTo>
                <a:lnTo>
                  <a:pt x="29319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511157" y="359544"/>
            <a:ext cx="458544" cy="431031"/>
          </a:xfrm>
          <a:custGeom>
            <a:avLst/>
            <a:gdLst/>
            <a:ahLst/>
            <a:cxnLst/>
            <a:rect r="r" b="b" t="t" l="l"/>
            <a:pathLst>
              <a:path h="431031" w="458544">
                <a:moveTo>
                  <a:pt x="0" y="0"/>
                </a:moveTo>
                <a:lnTo>
                  <a:pt x="458545" y="0"/>
                </a:lnTo>
                <a:lnTo>
                  <a:pt x="458545" y="431031"/>
                </a:lnTo>
                <a:lnTo>
                  <a:pt x="0" y="4310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7345811" y="359544"/>
            <a:ext cx="431031" cy="43103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93A47"/>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940"/>
                </a:lnSpc>
              </a:pPr>
            </a:p>
          </p:txBody>
        </p:sp>
      </p:grpSp>
      <p:sp>
        <p:nvSpPr>
          <p:cNvPr name="TextBox 9" id="9"/>
          <p:cNvSpPr txBox="true"/>
          <p:nvPr/>
        </p:nvSpPr>
        <p:spPr>
          <a:xfrm rot="0">
            <a:off x="1017327" y="377873"/>
            <a:ext cx="1939146" cy="356210"/>
          </a:xfrm>
          <a:prstGeom prst="rect">
            <a:avLst/>
          </a:prstGeom>
        </p:spPr>
        <p:txBody>
          <a:bodyPr anchor="t" rtlCol="false" tIns="0" lIns="0" bIns="0" rIns="0">
            <a:spAutoFit/>
          </a:bodyPr>
          <a:lstStyle/>
          <a:p>
            <a:pPr algn="l">
              <a:lnSpc>
                <a:spcPts val="2940"/>
              </a:lnSpc>
            </a:pPr>
            <a:r>
              <a:rPr lang="en-US" sz="2100">
                <a:solidFill>
                  <a:srgbClr val="093A47"/>
                </a:solidFill>
                <a:latin typeface="Proxima Nova"/>
                <a:ea typeface="Proxima Nova"/>
                <a:cs typeface="Proxima Nova"/>
                <a:sym typeface="Proxima Nova"/>
              </a:rPr>
              <a:t>Data Science</a:t>
            </a:r>
          </a:p>
        </p:txBody>
      </p:sp>
      <p:sp>
        <p:nvSpPr>
          <p:cNvPr name="TextBox 10" id="10"/>
          <p:cNvSpPr txBox="true"/>
          <p:nvPr/>
        </p:nvSpPr>
        <p:spPr>
          <a:xfrm rot="0">
            <a:off x="13832455" y="377873"/>
            <a:ext cx="3465731" cy="356272"/>
          </a:xfrm>
          <a:prstGeom prst="rect">
            <a:avLst/>
          </a:prstGeom>
        </p:spPr>
        <p:txBody>
          <a:bodyPr anchor="t" rtlCol="false" tIns="0" lIns="0" bIns="0" rIns="0">
            <a:spAutoFit/>
          </a:bodyPr>
          <a:lstStyle/>
          <a:p>
            <a:pPr algn="r">
              <a:lnSpc>
                <a:spcPts val="2940"/>
              </a:lnSpc>
            </a:pPr>
            <a:r>
              <a:rPr lang="en-US" sz="2100">
                <a:solidFill>
                  <a:srgbClr val="093A47"/>
                </a:solidFill>
                <a:latin typeface="Proxima Nova"/>
                <a:ea typeface="Proxima Nova"/>
                <a:cs typeface="Proxima Nova"/>
                <a:sym typeface="Proxima Nova"/>
              </a:rPr>
              <a:t>Modern Tech Presentation</a:t>
            </a:r>
          </a:p>
        </p:txBody>
      </p:sp>
      <p:sp>
        <p:nvSpPr>
          <p:cNvPr name="TextBox 11" id="11"/>
          <p:cNvSpPr txBox="true"/>
          <p:nvPr/>
        </p:nvSpPr>
        <p:spPr>
          <a:xfrm rot="0">
            <a:off x="17399942" y="478460"/>
            <a:ext cx="322770" cy="231298"/>
          </a:xfrm>
          <a:prstGeom prst="rect">
            <a:avLst/>
          </a:prstGeom>
        </p:spPr>
        <p:txBody>
          <a:bodyPr anchor="t" rtlCol="false" tIns="0" lIns="0" bIns="0" rIns="0">
            <a:spAutoFit/>
          </a:bodyPr>
          <a:lstStyle/>
          <a:p>
            <a:pPr algn="ctr">
              <a:lnSpc>
                <a:spcPts val="1639"/>
              </a:lnSpc>
            </a:pPr>
            <a:r>
              <a:rPr lang="en-US" sz="1821">
                <a:solidFill>
                  <a:srgbClr val="FFFDFA"/>
                </a:solidFill>
                <a:latin typeface="Bebas Neue Cyrillic"/>
                <a:ea typeface="Bebas Neue Cyrillic"/>
                <a:cs typeface="Bebas Neue Cyrillic"/>
                <a:sym typeface="Bebas Neue Cyrillic"/>
              </a:rPr>
              <a:t>04</a:t>
            </a:r>
          </a:p>
        </p:txBody>
      </p:sp>
      <p:grpSp>
        <p:nvGrpSpPr>
          <p:cNvPr name="Group 12" id="12"/>
          <p:cNvGrpSpPr/>
          <p:nvPr/>
        </p:nvGrpSpPr>
        <p:grpSpPr>
          <a:xfrm rot="0">
            <a:off x="439924" y="3062826"/>
            <a:ext cx="881524" cy="1263127"/>
            <a:chOff x="0" y="0"/>
            <a:chExt cx="232171" cy="332675"/>
          </a:xfrm>
        </p:grpSpPr>
        <p:sp>
          <p:nvSpPr>
            <p:cNvPr name="Freeform 13" id="13"/>
            <p:cNvSpPr/>
            <p:nvPr/>
          </p:nvSpPr>
          <p:spPr>
            <a:xfrm flipH="false" flipV="false" rot="0">
              <a:off x="0" y="0"/>
              <a:ext cx="232171" cy="332675"/>
            </a:xfrm>
            <a:custGeom>
              <a:avLst/>
              <a:gdLst/>
              <a:ahLst/>
              <a:cxnLst/>
              <a:rect r="r" b="b" t="t" l="l"/>
              <a:pathLst>
                <a:path h="332675" w="232171">
                  <a:moveTo>
                    <a:pt x="0" y="0"/>
                  </a:moveTo>
                  <a:lnTo>
                    <a:pt x="232171" y="0"/>
                  </a:lnTo>
                  <a:lnTo>
                    <a:pt x="232171" y="332675"/>
                  </a:lnTo>
                  <a:lnTo>
                    <a:pt x="0" y="332675"/>
                  </a:lnTo>
                  <a:close/>
                </a:path>
              </a:pathLst>
            </a:custGeom>
            <a:solidFill>
              <a:srgbClr val="093A47"/>
            </a:solidFill>
          </p:spPr>
        </p:sp>
        <p:sp>
          <p:nvSpPr>
            <p:cNvPr name="TextBox 14" id="14"/>
            <p:cNvSpPr txBox="true"/>
            <p:nvPr/>
          </p:nvSpPr>
          <p:spPr>
            <a:xfrm>
              <a:off x="0" y="-38100"/>
              <a:ext cx="232171" cy="370775"/>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607125" y="2969814"/>
            <a:ext cx="6017688" cy="1356139"/>
            <a:chOff x="0" y="0"/>
            <a:chExt cx="1584906" cy="357172"/>
          </a:xfrm>
        </p:grpSpPr>
        <p:sp>
          <p:nvSpPr>
            <p:cNvPr name="Freeform 16" id="16"/>
            <p:cNvSpPr/>
            <p:nvPr/>
          </p:nvSpPr>
          <p:spPr>
            <a:xfrm flipH="false" flipV="false" rot="0">
              <a:off x="0" y="0"/>
              <a:ext cx="1584905" cy="357172"/>
            </a:xfrm>
            <a:custGeom>
              <a:avLst/>
              <a:gdLst/>
              <a:ahLst/>
              <a:cxnLst/>
              <a:rect r="r" b="b" t="t" l="l"/>
              <a:pathLst>
                <a:path h="357172" w="1584905">
                  <a:moveTo>
                    <a:pt x="0" y="0"/>
                  </a:moveTo>
                  <a:lnTo>
                    <a:pt x="1584905" y="0"/>
                  </a:lnTo>
                  <a:lnTo>
                    <a:pt x="1584905" y="357172"/>
                  </a:lnTo>
                  <a:lnTo>
                    <a:pt x="0" y="357172"/>
                  </a:lnTo>
                  <a:close/>
                </a:path>
              </a:pathLst>
            </a:custGeom>
            <a:solidFill>
              <a:srgbClr val="0C586D"/>
            </a:solidFill>
          </p:spPr>
        </p:sp>
        <p:sp>
          <p:nvSpPr>
            <p:cNvPr name="TextBox 17" id="17"/>
            <p:cNvSpPr txBox="true"/>
            <p:nvPr/>
          </p:nvSpPr>
          <p:spPr>
            <a:xfrm>
              <a:off x="0" y="-38100"/>
              <a:ext cx="1584906" cy="395272"/>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548863" y="3417629"/>
            <a:ext cx="663646" cy="505896"/>
          </a:xfrm>
          <a:prstGeom prst="rect">
            <a:avLst/>
          </a:prstGeom>
        </p:spPr>
        <p:txBody>
          <a:bodyPr anchor="t" rtlCol="false" tIns="0" lIns="0" bIns="0" rIns="0">
            <a:spAutoFit/>
          </a:bodyPr>
          <a:lstStyle/>
          <a:p>
            <a:pPr algn="ctr">
              <a:lnSpc>
                <a:spcPts val="4272"/>
              </a:lnSpc>
            </a:pPr>
            <a:r>
              <a:rPr lang="en-US" b="true" sz="3051">
                <a:solidFill>
                  <a:srgbClr val="FFFDFA"/>
                </a:solidFill>
                <a:latin typeface="Proxima Nova Heavy"/>
                <a:ea typeface="Proxima Nova Heavy"/>
                <a:cs typeface="Proxima Nova Heavy"/>
                <a:sym typeface="Proxima Nova Heavy"/>
              </a:rPr>
              <a:t>01</a:t>
            </a:r>
          </a:p>
        </p:txBody>
      </p:sp>
      <p:sp>
        <p:nvSpPr>
          <p:cNvPr name="TextBox 19" id="19"/>
          <p:cNvSpPr txBox="true"/>
          <p:nvPr/>
        </p:nvSpPr>
        <p:spPr>
          <a:xfrm rot="0">
            <a:off x="1938014" y="3106039"/>
            <a:ext cx="5355909" cy="923195"/>
          </a:xfrm>
          <a:prstGeom prst="rect">
            <a:avLst/>
          </a:prstGeom>
        </p:spPr>
        <p:txBody>
          <a:bodyPr anchor="t" rtlCol="false" tIns="0" lIns="0" bIns="0" rIns="0">
            <a:spAutoFit/>
          </a:bodyPr>
          <a:lstStyle/>
          <a:p>
            <a:pPr algn="l">
              <a:lnSpc>
                <a:spcPts val="3721"/>
              </a:lnSpc>
            </a:pPr>
            <a:r>
              <a:rPr lang="en-US" sz="2658" spc="53" b="true">
                <a:solidFill>
                  <a:srgbClr val="FFFDFA"/>
                </a:solidFill>
                <a:latin typeface="Proxima Nova Bold"/>
                <a:ea typeface="Proxima Nova Bold"/>
                <a:cs typeface="Proxima Nova Bold"/>
                <a:sym typeface="Proxima Nova Bold"/>
              </a:rPr>
              <a:t>Memeriksa struktur dan kualitas ddataset</a:t>
            </a:r>
          </a:p>
        </p:txBody>
      </p:sp>
      <p:grpSp>
        <p:nvGrpSpPr>
          <p:cNvPr name="Group 20" id="20"/>
          <p:cNvGrpSpPr/>
          <p:nvPr/>
        </p:nvGrpSpPr>
        <p:grpSpPr>
          <a:xfrm rot="0">
            <a:off x="439924" y="6256059"/>
            <a:ext cx="881524" cy="1263127"/>
            <a:chOff x="0" y="0"/>
            <a:chExt cx="232171" cy="332675"/>
          </a:xfrm>
        </p:grpSpPr>
        <p:sp>
          <p:nvSpPr>
            <p:cNvPr name="Freeform 21" id="21"/>
            <p:cNvSpPr/>
            <p:nvPr/>
          </p:nvSpPr>
          <p:spPr>
            <a:xfrm flipH="false" flipV="false" rot="0">
              <a:off x="0" y="0"/>
              <a:ext cx="232171" cy="332675"/>
            </a:xfrm>
            <a:custGeom>
              <a:avLst/>
              <a:gdLst/>
              <a:ahLst/>
              <a:cxnLst/>
              <a:rect r="r" b="b" t="t" l="l"/>
              <a:pathLst>
                <a:path h="332675" w="232171">
                  <a:moveTo>
                    <a:pt x="0" y="0"/>
                  </a:moveTo>
                  <a:lnTo>
                    <a:pt x="232171" y="0"/>
                  </a:lnTo>
                  <a:lnTo>
                    <a:pt x="232171" y="332675"/>
                  </a:lnTo>
                  <a:lnTo>
                    <a:pt x="0" y="332675"/>
                  </a:lnTo>
                  <a:close/>
                </a:path>
              </a:pathLst>
            </a:custGeom>
            <a:solidFill>
              <a:srgbClr val="093A47"/>
            </a:solidFill>
          </p:spPr>
        </p:sp>
        <p:sp>
          <p:nvSpPr>
            <p:cNvPr name="TextBox 22" id="22"/>
            <p:cNvSpPr txBox="true"/>
            <p:nvPr/>
          </p:nvSpPr>
          <p:spPr>
            <a:xfrm>
              <a:off x="0" y="-38100"/>
              <a:ext cx="232171" cy="370775"/>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468425" y="7981413"/>
            <a:ext cx="881524" cy="1263127"/>
            <a:chOff x="0" y="0"/>
            <a:chExt cx="232171" cy="332675"/>
          </a:xfrm>
        </p:grpSpPr>
        <p:sp>
          <p:nvSpPr>
            <p:cNvPr name="Freeform 24" id="24"/>
            <p:cNvSpPr/>
            <p:nvPr/>
          </p:nvSpPr>
          <p:spPr>
            <a:xfrm flipH="false" flipV="false" rot="0">
              <a:off x="0" y="0"/>
              <a:ext cx="232171" cy="332675"/>
            </a:xfrm>
            <a:custGeom>
              <a:avLst/>
              <a:gdLst/>
              <a:ahLst/>
              <a:cxnLst/>
              <a:rect r="r" b="b" t="t" l="l"/>
              <a:pathLst>
                <a:path h="332675" w="232171">
                  <a:moveTo>
                    <a:pt x="0" y="0"/>
                  </a:moveTo>
                  <a:lnTo>
                    <a:pt x="232171" y="0"/>
                  </a:lnTo>
                  <a:lnTo>
                    <a:pt x="232171" y="332675"/>
                  </a:lnTo>
                  <a:lnTo>
                    <a:pt x="0" y="332675"/>
                  </a:lnTo>
                  <a:close/>
                </a:path>
              </a:pathLst>
            </a:custGeom>
            <a:solidFill>
              <a:srgbClr val="093A47"/>
            </a:solidFill>
          </p:spPr>
        </p:sp>
        <p:sp>
          <p:nvSpPr>
            <p:cNvPr name="TextBox 25" id="25"/>
            <p:cNvSpPr txBox="true"/>
            <p:nvPr/>
          </p:nvSpPr>
          <p:spPr>
            <a:xfrm>
              <a:off x="0" y="-38100"/>
              <a:ext cx="232171" cy="370775"/>
            </a:xfrm>
            <a:prstGeom prst="rect">
              <a:avLst/>
            </a:prstGeom>
          </p:spPr>
          <p:txBody>
            <a:bodyPr anchor="ctr" rtlCol="false" tIns="50800" lIns="50800" bIns="50800" rIns="50800"/>
            <a:lstStyle/>
            <a:p>
              <a:pPr algn="ctr">
                <a:lnSpc>
                  <a:spcPts val="2659"/>
                </a:lnSpc>
              </a:pPr>
            </a:p>
          </p:txBody>
        </p:sp>
      </p:grpSp>
      <p:sp>
        <p:nvSpPr>
          <p:cNvPr name="TextBox 26" id="26"/>
          <p:cNvSpPr txBox="true"/>
          <p:nvPr/>
        </p:nvSpPr>
        <p:spPr>
          <a:xfrm rot="0">
            <a:off x="548863" y="6606130"/>
            <a:ext cx="663646" cy="505896"/>
          </a:xfrm>
          <a:prstGeom prst="rect">
            <a:avLst/>
          </a:prstGeom>
        </p:spPr>
        <p:txBody>
          <a:bodyPr anchor="t" rtlCol="false" tIns="0" lIns="0" bIns="0" rIns="0">
            <a:spAutoFit/>
          </a:bodyPr>
          <a:lstStyle/>
          <a:p>
            <a:pPr algn="ctr">
              <a:lnSpc>
                <a:spcPts val="4272"/>
              </a:lnSpc>
            </a:pPr>
            <a:r>
              <a:rPr lang="en-US" b="true" sz="3051">
                <a:solidFill>
                  <a:srgbClr val="FFFDFA"/>
                </a:solidFill>
                <a:latin typeface="Proxima Nova Heavy"/>
                <a:ea typeface="Proxima Nova Heavy"/>
                <a:cs typeface="Proxima Nova Heavy"/>
                <a:sym typeface="Proxima Nova Heavy"/>
              </a:rPr>
              <a:t>03</a:t>
            </a:r>
          </a:p>
        </p:txBody>
      </p:sp>
      <p:sp>
        <p:nvSpPr>
          <p:cNvPr name="TextBox 27" id="27"/>
          <p:cNvSpPr txBox="true"/>
          <p:nvPr/>
        </p:nvSpPr>
        <p:spPr>
          <a:xfrm rot="0">
            <a:off x="577364" y="8336216"/>
            <a:ext cx="663646" cy="505896"/>
          </a:xfrm>
          <a:prstGeom prst="rect">
            <a:avLst/>
          </a:prstGeom>
        </p:spPr>
        <p:txBody>
          <a:bodyPr anchor="t" rtlCol="false" tIns="0" lIns="0" bIns="0" rIns="0">
            <a:spAutoFit/>
          </a:bodyPr>
          <a:lstStyle/>
          <a:p>
            <a:pPr algn="ctr">
              <a:lnSpc>
                <a:spcPts val="4272"/>
              </a:lnSpc>
            </a:pPr>
            <a:r>
              <a:rPr lang="en-US" b="true" sz="3051">
                <a:solidFill>
                  <a:srgbClr val="FFFDFA"/>
                </a:solidFill>
                <a:latin typeface="Proxima Nova Heavy"/>
                <a:ea typeface="Proxima Nova Heavy"/>
                <a:cs typeface="Proxima Nova Heavy"/>
                <a:sym typeface="Proxima Nova Heavy"/>
              </a:rPr>
              <a:t>04</a:t>
            </a:r>
          </a:p>
        </p:txBody>
      </p:sp>
      <p:grpSp>
        <p:nvGrpSpPr>
          <p:cNvPr name="Group 28" id="28"/>
          <p:cNvGrpSpPr/>
          <p:nvPr/>
        </p:nvGrpSpPr>
        <p:grpSpPr>
          <a:xfrm rot="0">
            <a:off x="468425" y="4714354"/>
            <a:ext cx="881524" cy="1263127"/>
            <a:chOff x="0" y="0"/>
            <a:chExt cx="232171" cy="332675"/>
          </a:xfrm>
        </p:grpSpPr>
        <p:sp>
          <p:nvSpPr>
            <p:cNvPr name="Freeform 29" id="29"/>
            <p:cNvSpPr/>
            <p:nvPr/>
          </p:nvSpPr>
          <p:spPr>
            <a:xfrm flipH="false" flipV="false" rot="0">
              <a:off x="0" y="0"/>
              <a:ext cx="232171" cy="332675"/>
            </a:xfrm>
            <a:custGeom>
              <a:avLst/>
              <a:gdLst/>
              <a:ahLst/>
              <a:cxnLst/>
              <a:rect r="r" b="b" t="t" l="l"/>
              <a:pathLst>
                <a:path h="332675" w="232171">
                  <a:moveTo>
                    <a:pt x="0" y="0"/>
                  </a:moveTo>
                  <a:lnTo>
                    <a:pt x="232171" y="0"/>
                  </a:lnTo>
                  <a:lnTo>
                    <a:pt x="232171" y="332675"/>
                  </a:lnTo>
                  <a:lnTo>
                    <a:pt x="0" y="332675"/>
                  </a:lnTo>
                  <a:close/>
                </a:path>
              </a:pathLst>
            </a:custGeom>
            <a:solidFill>
              <a:srgbClr val="093A47"/>
            </a:solidFill>
          </p:spPr>
        </p:sp>
        <p:sp>
          <p:nvSpPr>
            <p:cNvPr name="TextBox 30" id="30"/>
            <p:cNvSpPr txBox="true"/>
            <p:nvPr/>
          </p:nvSpPr>
          <p:spPr>
            <a:xfrm>
              <a:off x="0" y="-38100"/>
              <a:ext cx="232171" cy="370775"/>
            </a:xfrm>
            <a:prstGeom prst="rect">
              <a:avLst/>
            </a:prstGeom>
          </p:spPr>
          <p:txBody>
            <a:bodyPr anchor="ctr" rtlCol="false" tIns="50800" lIns="50800" bIns="50800" rIns="50800"/>
            <a:lstStyle/>
            <a:p>
              <a:pPr algn="ctr">
                <a:lnSpc>
                  <a:spcPts val="2659"/>
                </a:lnSpc>
              </a:pPr>
            </a:p>
          </p:txBody>
        </p:sp>
      </p:grpSp>
      <p:sp>
        <p:nvSpPr>
          <p:cNvPr name="TextBox 31" id="31"/>
          <p:cNvSpPr txBox="true"/>
          <p:nvPr/>
        </p:nvSpPr>
        <p:spPr>
          <a:xfrm rot="0">
            <a:off x="577364" y="5069157"/>
            <a:ext cx="663646" cy="505896"/>
          </a:xfrm>
          <a:prstGeom prst="rect">
            <a:avLst/>
          </a:prstGeom>
        </p:spPr>
        <p:txBody>
          <a:bodyPr anchor="t" rtlCol="false" tIns="0" lIns="0" bIns="0" rIns="0">
            <a:spAutoFit/>
          </a:bodyPr>
          <a:lstStyle/>
          <a:p>
            <a:pPr algn="ctr">
              <a:lnSpc>
                <a:spcPts val="4272"/>
              </a:lnSpc>
            </a:pPr>
            <a:r>
              <a:rPr lang="en-US" b="true" sz="3051">
                <a:solidFill>
                  <a:srgbClr val="FFFDFA"/>
                </a:solidFill>
                <a:latin typeface="Proxima Nova Heavy"/>
                <a:ea typeface="Proxima Nova Heavy"/>
                <a:cs typeface="Proxima Nova Heavy"/>
                <a:sym typeface="Proxima Nova Heavy"/>
              </a:rPr>
              <a:t>02</a:t>
            </a:r>
          </a:p>
        </p:txBody>
      </p:sp>
      <p:sp>
        <p:nvSpPr>
          <p:cNvPr name="TextBox 32" id="32"/>
          <p:cNvSpPr txBox="true"/>
          <p:nvPr/>
        </p:nvSpPr>
        <p:spPr>
          <a:xfrm rot="0">
            <a:off x="3067799" y="1413698"/>
            <a:ext cx="12152401" cy="906309"/>
          </a:xfrm>
          <a:prstGeom prst="rect">
            <a:avLst/>
          </a:prstGeom>
        </p:spPr>
        <p:txBody>
          <a:bodyPr anchor="t" rtlCol="false" tIns="0" lIns="0" bIns="0" rIns="0">
            <a:spAutoFit/>
          </a:bodyPr>
          <a:lstStyle/>
          <a:p>
            <a:pPr algn="ctr">
              <a:lnSpc>
                <a:spcPts val="6558"/>
              </a:lnSpc>
            </a:pPr>
            <a:r>
              <a:rPr lang="en-US" sz="7286">
                <a:solidFill>
                  <a:srgbClr val="093A47"/>
                </a:solidFill>
                <a:latin typeface="Bebas Neue Cyrillic"/>
                <a:ea typeface="Bebas Neue Cyrillic"/>
                <a:cs typeface="Bebas Neue Cyrillic"/>
                <a:sym typeface="Bebas Neue Cyrillic"/>
              </a:rPr>
              <a:t>Preprocessing dan ANOTASI DATA</a:t>
            </a:r>
          </a:p>
        </p:txBody>
      </p:sp>
      <p:sp>
        <p:nvSpPr>
          <p:cNvPr name="TextBox 33" id="33"/>
          <p:cNvSpPr txBox="true"/>
          <p:nvPr/>
        </p:nvSpPr>
        <p:spPr>
          <a:xfrm rot="0">
            <a:off x="439924" y="2236292"/>
            <a:ext cx="5355909" cy="555422"/>
          </a:xfrm>
          <a:prstGeom prst="rect">
            <a:avLst/>
          </a:prstGeom>
        </p:spPr>
        <p:txBody>
          <a:bodyPr anchor="t" rtlCol="false" tIns="0" lIns="0" bIns="0" rIns="0">
            <a:spAutoFit/>
          </a:bodyPr>
          <a:lstStyle/>
          <a:p>
            <a:pPr algn="l">
              <a:lnSpc>
                <a:spcPts val="4561"/>
              </a:lnSpc>
            </a:pPr>
            <a:r>
              <a:rPr lang="en-US" b="true" sz="3257" spc="65">
                <a:solidFill>
                  <a:srgbClr val="0C586D"/>
                </a:solidFill>
                <a:latin typeface="Proxima Nova Bold"/>
                <a:ea typeface="Proxima Nova Bold"/>
                <a:cs typeface="Proxima Nova Bold"/>
                <a:sym typeface="Proxima Nova Bold"/>
              </a:rPr>
              <a:t>PREPROCESSING</a:t>
            </a:r>
          </a:p>
        </p:txBody>
      </p:sp>
      <p:grpSp>
        <p:nvGrpSpPr>
          <p:cNvPr name="Group 34" id="34"/>
          <p:cNvGrpSpPr/>
          <p:nvPr/>
        </p:nvGrpSpPr>
        <p:grpSpPr>
          <a:xfrm rot="0">
            <a:off x="1607125" y="4682919"/>
            <a:ext cx="6017688" cy="1294561"/>
            <a:chOff x="0" y="0"/>
            <a:chExt cx="1584906" cy="340954"/>
          </a:xfrm>
        </p:grpSpPr>
        <p:sp>
          <p:nvSpPr>
            <p:cNvPr name="Freeform 35" id="35"/>
            <p:cNvSpPr/>
            <p:nvPr/>
          </p:nvSpPr>
          <p:spPr>
            <a:xfrm flipH="false" flipV="false" rot="0">
              <a:off x="0" y="0"/>
              <a:ext cx="1584905" cy="340954"/>
            </a:xfrm>
            <a:custGeom>
              <a:avLst/>
              <a:gdLst/>
              <a:ahLst/>
              <a:cxnLst/>
              <a:rect r="r" b="b" t="t" l="l"/>
              <a:pathLst>
                <a:path h="340954" w="1584905">
                  <a:moveTo>
                    <a:pt x="0" y="0"/>
                  </a:moveTo>
                  <a:lnTo>
                    <a:pt x="1584905" y="0"/>
                  </a:lnTo>
                  <a:lnTo>
                    <a:pt x="1584905" y="340954"/>
                  </a:lnTo>
                  <a:lnTo>
                    <a:pt x="0" y="340954"/>
                  </a:lnTo>
                  <a:close/>
                </a:path>
              </a:pathLst>
            </a:custGeom>
            <a:solidFill>
              <a:srgbClr val="0C586D"/>
            </a:solidFill>
          </p:spPr>
        </p:sp>
        <p:sp>
          <p:nvSpPr>
            <p:cNvPr name="TextBox 36" id="36"/>
            <p:cNvSpPr txBox="true"/>
            <p:nvPr/>
          </p:nvSpPr>
          <p:spPr>
            <a:xfrm>
              <a:off x="0" y="-38100"/>
              <a:ext cx="1584906" cy="379054"/>
            </a:xfrm>
            <a:prstGeom prst="rect">
              <a:avLst/>
            </a:prstGeom>
          </p:spPr>
          <p:txBody>
            <a:bodyPr anchor="ctr" rtlCol="false" tIns="50800" lIns="50800" bIns="50800" rIns="50800"/>
            <a:lstStyle/>
            <a:p>
              <a:pPr algn="ctr">
                <a:lnSpc>
                  <a:spcPts val="2659"/>
                </a:lnSpc>
              </a:pPr>
            </a:p>
          </p:txBody>
        </p:sp>
      </p:grpSp>
      <p:sp>
        <p:nvSpPr>
          <p:cNvPr name="TextBox 37" id="37"/>
          <p:cNvSpPr txBox="true"/>
          <p:nvPr/>
        </p:nvSpPr>
        <p:spPr>
          <a:xfrm rot="0">
            <a:off x="1938014" y="4762423"/>
            <a:ext cx="5355909" cy="923195"/>
          </a:xfrm>
          <a:prstGeom prst="rect">
            <a:avLst/>
          </a:prstGeom>
        </p:spPr>
        <p:txBody>
          <a:bodyPr anchor="t" rtlCol="false" tIns="0" lIns="0" bIns="0" rIns="0">
            <a:spAutoFit/>
          </a:bodyPr>
          <a:lstStyle/>
          <a:p>
            <a:pPr algn="l">
              <a:lnSpc>
                <a:spcPts val="3721"/>
              </a:lnSpc>
            </a:pPr>
            <a:r>
              <a:rPr lang="en-US" sz="2658" spc="53" b="true">
                <a:solidFill>
                  <a:srgbClr val="FFFDFA"/>
                </a:solidFill>
                <a:latin typeface="Proxima Nova Bold"/>
                <a:ea typeface="Proxima Nova Bold"/>
                <a:cs typeface="Proxima Nova Bold"/>
                <a:sym typeface="Proxima Nova Bold"/>
              </a:rPr>
              <a:t>Mengidentifikasi data kososng dan artikel duplikat</a:t>
            </a:r>
          </a:p>
        </p:txBody>
      </p:sp>
      <p:grpSp>
        <p:nvGrpSpPr>
          <p:cNvPr name="Group 38" id="38"/>
          <p:cNvGrpSpPr/>
          <p:nvPr/>
        </p:nvGrpSpPr>
        <p:grpSpPr>
          <a:xfrm rot="0">
            <a:off x="1607125" y="6348955"/>
            <a:ext cx="6017688" cy="1356139"/>
            <a:chOff x="0" y="0"/>
            <a:chExt cx="1584906" cy="357172"/>
          </a:xfrm>
        </p:grpSpPr>
        <p:sp>
          <p:nvSpPr>
            <p:cNvPr name="Freeform 39" id="39"/>
            <p:cNvSpPr/>
            <p:nvPr/>
          </p:nvSpPr>
          <p:spPr>
            <a:xfrm flipH="false" flipV="false" rot="0">
              <a:off x="0" y="0"/>
              <a:ext cx="1584905" cy="357172"/>
            </a:xfrm>
            <a:custGeom>
              <a:avLst/>
              <a:gdLst/>
              <a:ahLst/>
              <a:cxnLst/>
              <a:rect r="r" b="b" t="t" l="l"/>
              <a:pathLst>
                <a:path h="357172" w="1584905">
                  <a:moveTo>
                    <a:pt x="0" y="0"/>
                  </a:moveTo>
                  <a:lnTo>
                    <a:pt x="1584905" y="0"/>
                  </a:lnTo>
                  <a:lnTo>
                    <a:pt x="1584905" y="357172"/>
                  </a:lnTo>
                  <a:lnTo>
                    <a:pt x="0" y="357172"/>
                  </a:lnTo>
                  <a:close/>
                </a:path>
              </a:pathLst>
            </a:custGeom>
            <a:solidFill>
              <a:srgbClr val="0C586D"/>
            </a:solidFill>
          </p:spPr>
        </p:sp>
        <p:sp>
          <p:nvSpPr>
            <p:cNvPr name="TextBox 40" id="40"/>
            <p:cNvSpPr txBox="true"/>
            <p:nvPr/>
          </p:nvSpPr>
          <p:spPr>
            <a:xfrm>
              <a:off x="0" y="-38100"/>
              <a:ext cx="1584906" cy="395272"/>
            </a:xfrm>
            <a:prstGeom prst="rect">
              <a:avLst/>
            </a:prstGeom>
          </p:spPr>
          <p:txBody>
            <a:bodyPr anchor="ctr" rtlCol="false" tIns="50800" lIns="50800" bIns="50800" rIns="50800"/>
            <a:lstStyle/>
            <a:p>
              <a:pPr algn="ctr">
                <a:lnSpc>
                  <a:spcPts val="2659"/>
                </a:lnSpc>
              </a:pPr>
            </a:p>
          </p:txBody>
        </p:sp>
      </p:grpSp>
      <p:grpSp>
        <p:nvGrpSpPr>
          <p:cNvPr name="Group 41" id="41"/>
          <p:cNvGrpSpPr/>
          <p:nvPr/>
        </p:nvGrpSpPr>
        <p:grpSpPr>
          <a:xfrm rot="0">
            <a:off x="1607125" y="8076570"/>
            <a:ext cx="6017688" cy="1356139"/>
            <a:chOff x="0" y="0"/>
            <a:chExt cx="1584906" cy="357172"/>
          </a:xfrm>
        </p:grpSpPr>
        <p:sp>
          <p:nvSpPr>
            <p:cNvPr name="Freeform 42" id="42"/>
            <p:cNvSpPr/>
            <p:nvPr/>
          </p:nvSpPr>
          <p:spPr>
            <a:xfrm flipH="false" flipV="false" rot="0">
              <a:off x="0" y="0"/>
              <a:ext cx="1584905" cy="357172"/>
            </a:xfrm>
            <a:custGeom>
              <a:avLst/>
              <a:gdLst/>
              <a:ahLst/>
              <a:cxnLst/>
              <a:rect r="r" b="b" t="t" l="l"/>
              <a:pathLst>
                <a:path h="357172" w="1584905">
                  <a:moveTo>
                    <a:pt x="0" y="0"/>
                  </a:moveTo>
                  <a:lnTo>
                    <a:pt x="1584905" y="0"/>
                  </a:lnTo>
                  <a:lnTo>
                    <a:pt x="1584905" y="357172"/>
                  </a:lnTo>
                  <a:lnTo>
                    <a:pt x="0" y="357172"/>
                  </a:lnTo>
                  <a:close/>
                </a:path>
              </a:pathLst>
            </a:custGeom>
            <a:solidFill>
              <a:srgbClr val="0C586D"/>
            </a:solidFill>
          </p:spPr>
        </p:sp>
        <p:sp>
          <p:nvSpPr>
            <p:cNvPr name="TextBox 43" id="43"/>
            <p:cNvSpPr txBox="true"/>
            <p:nvPr/>
          </p:nvSpPr>
          <p:spPr>
            <a:xfrm>
              <a:off x="0" y="-38100"/>
              <a:ext cx="1584906" cy="395272"/>
            </a:xfrm>
            <a:prstGeom prst="rect">
              <a:avLst/>
            </a:prstGeom>
          </p:spPr>
          <p:txBody>
            <a:bodyPr anchor="ctr" rtlCol="false" tIns="50800" lIns="50800" bIns="50800" rIns="50800"/>
            <a:lstStyle/>
            <a:p>
              <a:pPr algn="ctr">
                <a:lnSpc>
                  <a:spcPts val="2659"/>
                </a:lnSpc>
              </a:pPr>
            </a:p>
          </p:txBody>
        </p:sp>
      </p:grpSp>
      <p:sp>
        <p:nvSpPr>
          <p:cNvPr name="TextBox 44" id="44"/>
          <p:cNvSpPr txBox="true"/>
          <p:nvPr/>
        </p:nvSpPr>
        <p:spPr>
          <a:xfrm rot="0">
            <a:off x="1938014" y="6418806"/>
            <a:ext cx="5355909" cy="923195"/>
          </a:xfrm>
          <a:prstGeom prst="rect">
            <a:avLst/>
          </a:prstGeom>
        </p:spPr>
        <p:txBody>
          <a:bodyPr anchor="t" rtlCol="false" tIns="0" lIns="0" bIns="0" rIns="0">
            <a:spAutoFit/>
          </a:bodyPr>
          <a:lstStyle/>
          <a:p>
            <a:pPr algn="l">
              <a:lnSpc>
                <a:spcPts val="3721"/>
              </a:lnSpc>
            </a:pPr>
            <a:r>
              <a:rPr lang="en-US" sz="2658" spc="53" b="true">
                <a:solidFill>
                  <a:srgbClr val="FFFDFA"/>
                </a:solidFill>
                <a:latin typeface="Proxima Nova Bold"/>
                <a:ea typeface="Proxima Nova Bold"/>
                <a:cs typeface="Proxima Nova Bold"/>
                <a:sym typeface="Proxima Nova Bold"/>
              </a:rPr>
              <a:t>Memeriksa bahasa dan format teks</a:t>
            </a:r>
          </a:p>
        </p:txBody>
      </p:sp>
      <p:sp>
        <p:nvSpPr>
          <p:cNvPr name="TextBox 45" id="45"/>
          <p:cNvSpPr txBox="true"/>
          <p:nvPr/>
        </p:nvSpPr>
        <p:spPr>
          <a:xfrm rot="0">
            <a:off x="1986899" y="8215758"/>
            <a:ext cx="5355909" cy="923195"/>
          </a:xfrm>
          <a:prstGeom prst="rect">
            <a:avLst/>
          </a:prstGeom>
        </p:spPr>
        <p:txBody>
          <a:bodyPr anchor="t" rtlCol="false" tIns="0" lIns="0" bIns="0" rIns="0">
            <a:spAutoFit/>
          </a:bodyPr>
          <a:lstStyle/>
          <a:p>
            <a:pPr algn="l">
              <a:lnSpc>
                <a:spcPts val="3721"/>
              </a:lnSpc>
            </a:pPr>
            <a:r>
              <a:rPr lang="en-US" sz="2658" spc="53" b="true">
                <a:solidFill>
                  <a:srgbClr val="FFFDFA"/>
                </a:solidFill>
                <a:latin typeface="Proxima Nova Bold"/>
                <a:ea typeface="Proxima Nova Bold"/>
                <a:cs typeface="Proxima Nova Bold"/>
                <a:sym typeface="Proxima Nova Bold"/>
              </a:rPr>
              <a:t>Menyiapkan data untuk proses pengembangan model</a:t>
            </a:r>
          </a:p>
        </p:txBody>
      </p:sp>
      <p:sp>
        <p:nvSpPr>
          <p:cNvPr name="TextBox 46" id="46"/>
          <p:cNvSpPr txBox="true"/>
          <p:nvPr/>
        </p:nvSpPr>
        <p:spPr>
          <a:xfrm rot="0">
            <a:off x="8797351" y="2253332"/>
            <a:ext cx="5355909" cy="555422"/>
          </a:xfrm>
          <a:prstGeom prst="rect">
            <a:avLst/>
          </a:prstGeom>
        </p:spPr>
        <p:txBody>
          <a:bodyPr anchor="t" rtlCol="false" tIns="0" lIns="0" bIns="0" rIns="0">
            <a:spAutoFit/>
          </a:bodyPr>
          <a:lstStyle/>
          <a:p>
            <a:pPr algn="l">
              <a:lnSpc>
                <a:spcPts val="4561"/>
              </a:lnSpc>
            </a:pPr>
            <a:r>
              <a:rPr lang="en-US" sz="3257" spc="65" b="true">
                <a:solidFill>
                  <a:srgbClr val="0C586D"/>
                </a:solidFill>
                <a:latin typeface="Proxima Nova Bold"/>
                <a:ea typeface="Proxima Nova Bold"/>
                <a:cs typeface="Proxima Nova Bold"/>
                <a:sym typeface="Proxima Nova Bold"/>
              </a:rPr>
              <a:t>ANOTASI DATA</a:t>
            </a:r>
          </a:p>
        </p:txBody>
      </p:sp>
      <p:sp>
        <p:nvSpPr>
          <p:cNvPr name="TextBox 47" id="47"/>
          <p:cNvSpPr txBox="true"/>
          <p:nvPr/>
        </p:nvSpPr>
        <p:spPr>
          <a:xfrm rot="0">
            <a:off x="8688407" y="6471603"/>
            <a:ext cx="5355909" cy="555422"/>
          </a:xfrm>
          <a:prstGeom prst="rect">
            <a:avLst/>
          </a:prstGeom>
        </p:spPr>
        <p:txBody>
          <a:bodyPr anchor="t" rtlCol="false" tIns="0" lIns="0" bIns="0" rIns="0">
            <a:spAutoFit/>
          </a:bodyPr>
          <a:lstStyle/>
          <a:p>
            <a:pPr algn="l">
              <a:lnSpc>
                <a:spcPts val="4561"/>
              </a:lnSpc>
            </a:pPr>
            <a:r>
              <a:rPr lang="en-US" sz="3257" spc="65" b="true">
                <a:solidFill>
                  <a:srgbClr val="0C586D"/>
                </a:solidFill>
                <a:latin typeface="Proxima Nova Bold"/>
                <a:ea typeface="Proxima Nova Bold"/>
                <a:cs typeface="Proxima Nova Bold"/>
                <a:sym typeface="Proxima Nova Bold"/>
              </a:rPr>
              <a:t>CONTOH ANOTASI:</a:t>
            </a:r>
          </a:p>
        </p:txBody>
      </p:sp>
      <p:grpSp>
        <p:nvGrpSpPr>
          <p:cNvPr name="Group 48" id="48"/>
          <p:cNvGrpSpPr/>
          <p:nvPr/>
        </p:nvGrpSpPr>
        <p:grpSpPr>
          <a:xfrm rot="0">
            <a:off x="8688407" y="3062826"/>
            <a:ext cx="9089491" cy="3193233"/>
            <a:chOff x="0" y="0"/>
            <a:chExt cx="2393940" cy="841016"/>
          </a:xfrm>
        </p:grpSpPr>
        <p:sp>
          <p:nvSpPr>
            <p:cNvPr name="Freeform 49" id="49"/>
            <p:cNvSpPr/>
            <p:nvPr/>
          </p:nvSpPr>
          <p:spPr>
            <a:xfrm flipH="false" flipV="false" rot="0">
              <a:off x="0" y="0"/>
              <a:ext cx="2393940" cy="841016"/>
            </a:xfrm>
            <a:custGeom>
              <a:avLst/>
              <a:gdLst/>
              <a:ahLst/>
              <a:cxnLst/>
              <a:rect r="r" b="b" t="t" l="l"/>
              <a:pathLst>
                <a:path h="841016" w="2393940">
                  <a:moveTo>
                    <a:pt x="0" y="0"/>
                  </a:moveTo>
                  <a:lnTo>
                    <a:pt x="2393940" y="0"/>
                  </a:lnTo>
                  <a:lnTo>
                    <a:pt x="2393940" y="841016"/>
                  </a:lnTo>
                  <a:lnTo>
                    <a:pt x="0" y="841016"/>
                  </a:lnTo>
                  <a:close/>
                </a:path>
              </a:pathLst>
            </a:custGeom>
            <a:solidFill>
              <a:srgbClr val="0C586D"/>
            </a:solidFill>
          </p:spPr>
        </p:sp>
        <p:sp>
          <p:nvSpPr>
            <p:cNvPr name="TextBox 50" id="50"/>
            <p:cNvSpPr txBox="true"/>
            <p:nvPr/>
          </p:nvSpPr>
          <p:spPr>
            <a:xfrm>
              <a:off x="0" y="-38100"/>
              <a:ext cx="2393940" cy="879116"/>
            </a:xfrm>
            <a:prstGeom prst="rect">
              <a:avLst/>
            </a:prstGeom>
          </p:spPr>
          <p:txBody>
            <a:bodyPr anchor="ctr" rtlCol="false" tIns="50800" lIns="50800" bIns="50800" rIns="50800"/>
            <a:lstStyle/>
            <a:p>
              <a:pPr algn="ctr">
                <a:lnSpc>
                  <a:spcPts val="2659"/>
                </a:lnSpc>
              </a:pPr>
            </a:p>
          </p:txBody>
        </p:sp>
      </p:grpSp>
      <p:sp>
        <p:nvSpPr>
          <p:cNvPr name="TextBox 51" id="51"/>
          <p:cNvSpPr txBox="true"/>
          <p:nvPr/>
        </p:nvSpPr>
        <p:spPr>
          <a:xfrm rot="0">
            <a:off x="8575405" y="3151555"/>
            <a:ext cx="9019243" cy="2790311"/>
          </a:xfrm>
          <a:prstGeom prst="rect">
            <a:avLst/>
          </a:prstGeom>
        </p:spPr>
        <p:txBody>
          <a:bodyPr anchor="t" rtlCol="false" tIns="0" lIns="0" bIns="0" rIns="0">
            <a:spAutoFit/>
          </a:bodyPr>
          <a:lstStyle/>
          <a:p>
            <a:pPr algn="l" marL="573864" indent="-286932" lvl="1">
              <a:lnSpc>
                <a:spcPts val="3721"/>
              </a:lnSpc>
              <a:buAutoNum type="arabicPeriod" startAt="1"/>
            </a:pPr>
            <a:r>
              <a:rPr lang="en-US" b="true" sz="2658" spc="53">
                <a:solidFill>
                  <a:srgbClr val="FFFFFF"/>
                </a:solidFill>
                <a:latin typeface="Proxima Nova Bold"/>
                <a:ea typeface="Proxima Nova Bold"/>
                <a:cs typeface="Proxima Nova Bold"/>
                <a:sym typeface="Proxima Nova Bold"/>
              </a:rPr>
              <a:t>Memberikan label pada bagian teks yang merupakan entitas.</a:t>
            </a:r>
          </a:p>
          <a:p>
            <a:pPr algn="l" marL="573864" indent="-286932" lvl="1">
              <a:lnSpc>
                <a:spcPts val="3721"/>
              </a:lnSpc>
              <a:buAutoNum type="arabicPeriod" startAt="1"/>
            </a:pPr>
            <a:r>
              <a:rPr lang="en-US" b="true" sz="2658" spc="53">
                <a:solidFill>
                  <a:srgbClr val="FFFFFF"/>
                </a:solidFill>
                <a:latin typeface="Proxima Nova Bold"/>
                <a:ea typeface="Proxima Nova Bold"/>
                <a:cs typeface="Proxima Nova Bold"/>
                <a:sym typeface="Proxima Nova Bold"/>
              </a:rPr>
              <a:t>Menggunakan label minimal untuk orang, organisasi, dan lokasi.</a:t>
            </a:r>
          </a:p>
          <a:p>
            <a:pPr algn="just" marL="573864" indent="-286932" lvl="1">
              <a:lnSpc>
                <a:spcPts val="3721"/>
              </a:lnSpc>
              <a:buAutoNum type="arabicPeriod" startAt="1"/>
            </a:pPr>
            <a:r>
              <a:rPr lang="en-US" b="true" sz="2658" spc="53">
                <a:solidFill>
                  <a:srgbClr val="FFFFFF"/>
                </a:solidFill>
                <a:latin typeface="Proxima Nova Bold"/>
                <a:ea typeface="Proxima Nova Bold"/>
                <a:cs typeface="Proxima Nova Bold"/>
                <a:sym typeface="Proxima Nova Bold"/>
              </a:rPr>
              <a:t>Memeriksa anotasi agar dapat digunakan sebagai acuan evaluasi</a:t>
            </a:r>
          </a:p>
        </p:txBody>
      </p:sp>
      <p:sp>
        <p:nvSpPr>
          <p:cNvPr name="TextBox 52" id="52"/>
          <p:cNvSpPr txBox="true"/>
          <p:nvPr/>
        </p:nvSpPr>
        <p:spPr>
          <a:xfrm rot="0">
            <a:off x="8797351" y="7085218"/>
            <a:ext cx="9482722" cy="923195"/>
          </a:xfrm>
          <a:prstGeom prst="rect">
            <a:avLst/>
          </a:prstGeom>
        </p:spPr>
        <p:txBody>
          <a:bodyPr anchor="t" rtlCol="false" tIns="0" lIns="0" bIns="0" rIns="0">
            <a:spAutoFit/>
          </a:bodyPr>
          <a:lstStyle/>
          <a:p>
            <a:pPr algn="l">
              <a:lnSpc>
                <a:spcPts val="3721"/>
              </a:lnSpc>
            </a:pPr>
            <a:r>
              <a:rPr lang="en-US" sz="2658" spc="53" b="true">
                <a:solidFill>
                  <a:srgbClr val="0C586D"/>
                </a:solidFill>
                <a:latin typeface="Proxima Nova Bold"/>
                <a:ea typeface="Proxima Nova Bold"/>
                <a:cs typeface="Proxima Nova Bold"/>
                <a:sym typeface="Proxima Nova Bold"/>
              </a:rPr>
              <a:t>Kalimat: “Maybank mengumumkan program CSR di Kuala Lumpur pada 12 Maret 2025”.</a:t>
            </a:r>
          </a:p>
        </p:txBody>
      </p:sp>
      <p:sp>
        <p:nvSpPr>
          <p:cNvPr name="TextBox 53" id="53"/>
          <p:cNvSpPr txBox="true"/>
          <p:nvPr/>
        </p:nvSpPr>
        <p:spPr>
          <a:xfrm rot="0">
            <a:off x="8701692" y="8170338"/>
            <a:ext cx="9674039" cy="1820340"/>
          </a:xfrm>
          <a:prstGeom prst="rect">
            <a:avLst/>
          </a:prstGeom>
        </p:spPr>
        <p:txBody>
          <a:bodyPr anchor="t" rtlCol="false" tIns="0" lIns="0" bIns="0" rIns="0">
            <a:spAutoFit/>
          </a:bodyPr>
          <a:lstStyle/>
          <a:p>
            <a:pPr algn="l" marL="556763" indent="-278381" lvl="1">
              <a:lnSpc>
                <a:spcPts val="3610"/>
              </a:lnSpc>
              <a:buFont typeface="Arial"/>
              <a:buChar char="•"/>
            </a:pPr>
            <a:r>
              <a:rPr lang="en-US" b="true" sz="2578" spc="51">
                <a:solidFill>
                  <a:srgbClr val="0C586D"/>
                </a:solidFill>
                <a:latin typeface="Proxima Nova Bold"/>
                <a:ea typeface="Proxima Nova Bold"/>
                <a:cs typeface="Proxima Nova Bold"/>
                <a:sym typeface="Proxima Nova Bold"/>
              </a:rPr>
              <a:t>Maybank → ORG</a:t>
            </a:r>
          </a:p>
          <a:p>
            <a:pPr algn="l" marL="556763" indent="-278381" lvl="1">
              <a:lnSpc>
                <a:spcPts val="3610"/>
              </a:lnSpc>
              <a:buFont typeface="Arial"/>
              <a:buChar char="•"/>
            </a:pPr>
            <a:r>
              <a:rPr lang="en-US" b="true" sz="2578" spc="51">
                <a:solidFill>
                  <a:srgbClr val="0C586D"/>
                </a:solidFill>
                <a:latin typeface="Proxima Nova Bold"/>
                <a:ea typeface="Proxima Nova Bold"/>
                <a:cs typeface="Proxima Nova Bold"/>
                <a:sym typeface="Proxima Nova Bold"/>
              </a:rPr>
              <a:t>Kuala Lumpur → GPE</a:t>
            </a:r>
          </a:p>
          <a:p>
            <a:pPr algn="l" marL="556763" indent="-278381" lvl="1">
              <a:lnSpc>
                <a:spcPts val="3610"/>
              </a:lnSpc>
              <a:buFont typeface="Arial"/>
              <a:buChar char="•"/>
            </a:pPr>
            <a:r>
              <a:rPr lang="en-US" b="true" sz="2578" spc="51">
                <a:solidFill>
                  <a:srgbClr val="0C586D"/>
                </a:solidFill>
                <a:latin typeface="Proxima Nova Bold"/>
                <a:ea typeface="Proxima Nova Bold"/>
                <a:cs typeface="Proxima Nova Bold"/>
                <a:sym typeface="Proxima Nova Bold"/>
              </a:rPr>
              <a:t>12 Maret 2025 → DATE</a:t>
            </a:r>
          </a:p>
          <a:p>
            <a:pPr algn="l">
              <a:lnSpc>
                <a:spcPts val="3610"/>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DFA"/>
        </a:solidFill>
      </p:bgPr>
    </p:bg>
    <p:spTree>
      <p:nvGrpSpPr>
        <p:cNvPr id="1" name=""/>
        <p:cNvGrpSpPr/>
        <p:nvPr/>
      </p:nvGrpSpPr>
      <p:grpSpPr>
        <a:xfrm>
          <a:off x="0" y="0"/>
          <a:ext cx="0" cy="0"/>
          <a:chOff x="0" y="0"/>
          <a:chExt cx="0" cy="0"/>
        </a:xfrm>
      </p:grpSpPr>
      <p:sp>
        <p:nvSpPr>
          <p:cNvPr name="AutoShape 2" id="2"/>
          <p:cNvSpPr/>
          <p:nvPr/>
        </p:nvSpPr>
        <p:spPr>
          <a:xfrm>
            <a:off x="511157" y="9239250"/>
            <a:ext cx="17265685" cy="0"/>
          </a:xfrm>
          <a:prstGeom prst="line">
            <a:avLst/>
          </a:prstGeom>
          <a:ln cap="flat" w="38100">
            <a:solidFill>
              <a:srgbClr val="093A47"/>
            </a:solidFill>
            <a:prstDash val="solid"/>
            <a:headEnd type="none" len="sm" w="sm"/>
            <a:tailEnd type="none" len="sm" w="sm"/>
          </a:ln>
        </p:spPr>
      </p:sp>
      <p:sp>
        <p:nvSpPr>
          <p:cNvPr name="AutoShape 3" id="3"/>
          <p:cNvSpPr/>
          <p:nvPr/>
        </p:nvSpPr>
        <p:spPr>
          <a:xfrm>
            <a:off x="511157" y="1028700"/>
            <a:ext cx="17265685" cy="0"/>
          </a:xfrm>
          <a:prstGeom prst="line">
            <a:avLst/>
          </a:prstGeom>
          <a:ln cap="flat" w="38100">
            <a:solidFill>
              <a:srgbClr val="093A47"/>
            </a:solidFill>
            <a:prstDash val="solid"/>
            <a:headEnd type="none" len="sm" w="sm"/>
            <a:tailEnd type="none" len="sm" w="sm"/>
          </a:ln>
        </p:spPr>
      </p:sp>
      <p:sp>
        <p:nvSpPr>
          <p:cNvPr name="Freeform 4" id="4"/>
          <p:cNvSpPr/>
          <p:nvPr/>
        </p:nvSpPr>
        <p:spPr>
          <a:xfrm flipH="true" flipV="false" rot="0">
            <a:off x="17473987" y="9485033"/>
            <a:ext cx="302856" cy="302856"/>
          </a:xfrm>
          <a:custGeom>
            <a:avLst/>
            <a:gdLst/>
            <a:ahLst/>
            <a:cxnLst/>
            <a:rect r="r" b="b" t="t" l="l"/>
            <a:pathLst>
              <a:path h="302856" w="302856">
                <a:moveTo>
                  <a:pt x="302856" y="0"/>
                </a:moveTo>
                <a:lnTo>
                  <a:pt x="0" y="0"/>
                </a:lnTo>
                <a:lnTo>
                  <a:pt x="0" y="302856"/>
                </a:lnTo>
                <a:lnTo>
                  <a:pt x="302856" y="302856"/>
                </a:lnTo>
                <a:lnTo>
                  <a:pt x="30285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511157" y="359544"/>
            <a:ext cx="458544" cy="431031"/>
          </a:xfrm>
          <a:custGeom>
            <a:avLst/>
            <a:gdLst/>
            <a:ahLst/>
            <a:cxnLst/>
            <a:rect r="r" b="b" t="t" l="l"/>
            <a:pathLst>
              <a:path h="431031" w="458544">
                <a:moveTo>
                  <a:pt x="0" y="0"/>
                </a:moveTo>
                <a:lnTo>
                  <a:pt x="458545" y="0"/>
                </a:lnTo>
                <a:lnTo>
                  <a:pt x="458545" y="431031"/>
                </a:lnTo>
                <a:lnTo>
                  <a:pt x="0" y="4310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7345811" y="359544"/>
            <a:ext cx="431031" cy="43103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93A47"/>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940"/>
                </a:lnSpc>
              </a:pPr>
            </a:p>
          </p:txBody>
        </p:sp>
      </p:grpSp>
      <p:sp>
        <p:nvSpPr>
          <p:cNvPr name="TextBox 9" id="9"/>
          <p:cNvSpPr txBox="true"/>
          <p:nvPr/>
        </p:nvSpPr>
        <p:spPr>
          <a:xfrm rot="0">
            <a:off x="1017327" y="377873"/>
            <a:ext cx="1939146" cy="356210"/>
          </a:xfrm>
          <a:prstGeom prst="rect">
            <a:avLst/>
          </a:prstGeom>
        </p:spPr>
        <p:txBody>
          <a:bodyPr anchor="t" rtlCol="false" tIns="0" lIns="0" bIns="0" rIns="0">
            <a:spAutoFit/>
          </a:bodyPr>
          <a:lstStyle/>
          <a:p>
            <a:pPr algn="l">
              <a:lnSpc>
                <a:spcPts val="2940"/>
              </a:lnSpc>
            </a:pPr>
            <a:r>
              <a:rPr lang="en-US" sz="2100">
                <a:solidFill>
                  <a:srgbClr val="093A47"/>
                </a:solidFill>
                <a:latin typeface="Proxima Nova"/>
                <a:ea typeface="Proxima Nova"/>
                <a:cs typeface="Proxima Nova"/>
                <a:sym typeface="Proxima Nova"/>
              </a:rPr>
              <a:t>Data Science</a:t>
            </a:r>
          </a:p>
        </p:txBody>
      </p:sp>
      <p:sp>
        <p:nvSpPr>
          <p:cNvPr name="TextBox 10" id="10"/>
          <p:cNvSpPr txBox="true"/>
          <p:nvPr/>
        </p:nvSpPr>
        <p:spPr>
          <a:xfrm rot="0">
            <a:off x="13832455" y="377873"/>
            <a:ext cx="3465731" cy="356272"/>
          </a:xfrm>
          <a:prstGeom prst="rect">
            <a:avLst/>
          </a:prstGeom>
        </p:spPr>
        <p:txBody>
          <a:bodyPr anchor="t" rtlCol="false" tIns="0" lIns="0" bIns="0" rIns="0">
            <a:spAutoFit/>
          </a:bodyPr>
          <a:lstStyle/>
          <a:p>
            <a:pPr algn="r">
              <a:lnSpc>
                <a:spcPts val="2940"/>
              </a:lnSpc>
            </a:pPr>
            <a:r>
              <a:rPr lang="en-US" sz="2100">
                <a:solidFill>
                  <a:srgbClr val="093A47"/>
                </a:solidFill>
                <a:latin typeface="Proxima Nova"/>
                <a:ea typeface="Proxima Nova"/>
                <a:cs typeface="Proxima Nova"/>
                <a:sym typeface="Proxima Nova"/>
              </a:rPr>
              <a:t>Modern Tech Presentation</a:t>
            </a:r>
          </a:p>
        </p:txBody>
      </p:sp>
      <p:sp>
        <p:nvSpPr>
          <p:cNvPr name="TextBox 11" id="11"/>
          <p:cNvSpPr txBox="true"/>
          <p:nvPr/>
        </p:nvSpPr>
        <p:spPr>
          <a:xfrm rot="0">
            <a:off x="17399942" y="478460"/>
            <a:ext cx="322770" cy="231298"/>
          </a:xfrm>
          <a:prstGeom prst="rect">
            <a:avLst/>
          </a:prstGeom>
        </p:spPr>
        <p:txBody>
          <a:bodyPr anchor="t" rtlCol="false" tIns="0" lIns="0" bIns="0" rIns="0">
            <a:spAutoFit/>
          </a:bodyPr>
          <a:lstStyle/>
          <a:p>
            <a:pPr algn="ctr">
              <a:lnSpc>
                <a:spcPts val="1639"/>
              </a:lnSpc>
            </a:pPr>
            <a:r>
              <a:rPr lang="en-US" sz="1821">
                <a:solidFill>
                  <a:srgbClr val="FFFDFA"/>
                </a:solidFill>
                <a:latin typeface="Bebas Neue Cyrillic"/>
                <a:ea typeface="Bebas Neue Cyrillic"/>
                <a:cs typeface="Bebas Neue Cyrillic"/>
                <a:sym typeface="Bebas Neue Cyrillic"/>
              </a:rPr>
              <a:t>05</a:t>
            </a:r>
          </a:p>
        </p:txBody>
      </p:sp>
      <p:sp>
        <p:nvSpPr>
          <p:cNvPr name="TextBox 12" id="12"/>
          <p:cNvSpPr txBox="true"/>
          <p:nvPr/>
        </p:nvSpPr>
        <p:spPr>
          <a:xfrm rot="0">
            <a:off x="1287253" y="1543050"/>
            <a:ext cx="9922805" cy="2005459"/>
          </a:xfrm>
          <a:prstGeom prst="rect">
            <a:avLst/>
          </a:prstGeom>
        </p:spPr>
        <p:txBody>
          <a:bodyPr anchor="t" rtlCol="false" tIns="0" lIns="0" bIns="0" rIns="0">
            <a:spAutoFit/>
          </a:bodyPr>
          <a:lstStyle/>
          <a:p>
            <a:pPr algn="ctr">
              <a:lnSpc>
                <a:spcPts val="7548"/>
              </a:lnSpc>
            </a:pPr>
            <a:r>
              <a:rPr lang="en-US" sz="8386">
                <a:solidFill>
                  <a:srgbClr val="093A47"/>
                </a:solidFill>
                <a:latin typeface="Bebas Neue Cyrillic"/>
                <a:ea typeface="Bebas Neue Cyrillic"/>
                <a:cs typeface="Bebas Neue Cyrillic"/>
                <a:sym typeface="Bebas Neue Cyrillic"/>
              </a:rPr>
              <a:t>HASIL ANALISIS DATA MENTAH dan PEMBERSIHAN</a:t>
            </a:r>
          </a:p>
        </p:txBody>
      </p:sp>
      <p:sp>
        <p:nvSpPr>
          <p:cNvPr name="TextBox 13" id="13"/>
          <p:cNvSpPr txBox="true"/>
          <p:nvPr/>
        </p:nvSpPr>
        <p:spPr>
          <a:xfrm rot="0">
            <a:off x="10861143" y="3994885"/>
            <a:ext cx="7118154" cy="4077074"/>
          </a:xfrm>
          <a:prstGeom prst="rect">
            <a:avLst/>
          </a:prstGeom>
        </p:spPr>
        <p:txBody>
          <a:bodyPr anchor="t" rtlCol="false" tIns="0" lIns="0" bIns="0" rIns="0">
            <a:spAutoFit/>
          </a:bodyPr>
          <a:lstStyle/>
          <a:p>
            <a:pPr algn="just">
              <a:lnSpc>
                <a:spcPts val="2977"/>
              </a:lnSpc>
            </a:pPr>
            <a:r>
              <a:rPr lang="en-US" sz="2127" spc="63">
                <a:solidFill>
                  <a:srgbClr val="093A47"/>
                </a:solidFill>
                <a:latin typeface="Proxima Nova"/>
                <a:ea typeface="Proxima Nova"/>
                <a:cs typeface="Proxima Nova"/>
                <a:sym typeface="Proxima Nova"/>
              </a:rPr>
              <a:t>1. Duplikasi original_id</a:t>
            </a:r>
          </a:p>
          <a:p>
            <a:pPr algn="just">
              <a:lnSpc>
                <a:spcPts val="2977"/>
              </a:lnSpc>
            </a:pPr>
            <a:r>
              <a:rPr lang="en-US" sz="2127" spc="63">
                <a:solidFill>
                  <a:srgbClr val="093A47"/>
                </a:solidFill>
                <a:latin typeface="Proxima Nova"/>
                <a:ea typeface="Proxima Nova"/>
                <a:cs typeface="Proxima Nova"/>
                <a:sym typeface="Proxima Nova"/>
              </a:rPr>
              <a:t>Sistem mempertahankan kemunculan pertama dari setiap ID artikel dan menghapus data duplikat.</a:t>
            </a:r>
          </a:p>
          <a:p>
            <a:pPr algn="just">
              <a:lnSpc>
                <a:spcPts val="2977"/>
              </a:lnSpc>
            </a:pPr>
            <a:r>
              <a:rPr lang="en-US" sz="2127" spc="63">
                <a:solidFill>
                  <a:srgbClr val="093A47"/>
                </a:solidFill>
                <a:latin typeface="Proxima Nova"/>
                <a:ea typeface="Proxima Nova"/>
                <a:cs typeface="Proxima Nova"/>
                <a:sym typeface="Proxima Nova"/>
              </a:rPr>
              <a:t>2. Dataset multibahasa</a:t>
            </a:r>
          </a:p>
          <a:p>
            <a:pPr algn="just">
              <a:lnSpc>
                <a:spcPts val="2977"/>
              </a:lnSpc>
            </a:pPr>
            <a:r>
              <a:rPr lang="en-US" sz="2127" spc="63">
                <a:solidFill>
                  <a:srgbClr val="093A47"/>
                </a:solidFill>
                <a:latin typeface="Proxima Nova"/>
                <a:ea typeface="Proxima Nova"/>
                <a:cs typeface="Proxima Nova"/>
                <a:sym typeface="Proxima Nova"/>
              </a:rPr>
              <a:t>Dataset terdiri dari 656 artikel berbahasa Inggris, 146 bahasa Melayu, 15 bahasa Indonesia, 1 bahasa Vietnam, dan 1 bahasa Spanyol.</a:t>
            </a:r>
          </a:p>
          <a:p>
            <a:pPr algn="just">
              <a:lnSpc>
                <a:spcPts val="2977"/>
              </a:lnSpc>
            </a:pPr>
            <a:r>
              <a:rPr lang="en-US" sz="2127" spc="63">
                <a:solidFill>
                  <a:srgbClr val="093A47"/>
                </a:solidFill>
                <a:latin typeface="Proxima Nova"/>
                <a:ea typeface="Proxima Nova"/>
                <a:cs typeface="Proxima Nova"/>
                <a:sym typeface="Proxima Nova"/>
              </a:rPr>
              <a:t>3. Validasi kolom entities</a:t>
            </a:r>
          </a:p>
          <a:p>
            <a:pPr algn="just">
              <a:lnSpc>
                <a:spcPts val="2977"/>
              </a:lnSpc>
            </a:pPr>
            <a:r>
              <a:rPr lang="en-US" sz="2127" spc="63">
                <a:solidFill>
                  <a:srgbClr val="093A47"/>
                </a:solidFill>
                <a:latin typeface="Proxima Nova"/>
                <a:ea typeface="Proxima Nova"/>
                <a:cs typeface="Proxima Nova"/>
                <a:sym typeface="Proxima Nova"/>
              </a:rPr>
              <a:t>Label entitas dan rentang teks perlu diperiksa untuk memastikan anotasi sesuai dengan teks artikel.</a:t>
            </a:r>
          </a:p>
          <a:p>
            <a:pPr algn="just">
              <a:lnSpc>
                <a:spcPts val="2977"/>
              </a:lnSpc>
            </a:pPr>
          </a:p>
        </p:txBody>
      </p:sp>
      <p:sp>
        <p:nvSpPr>
          <p:cNvPr name="TextBox 14" id="14"/>
          <p:cNvSpPr txBox="true"/>
          <p:nvPr/>
        </p:nvSpPr>
        <p:spPr>
          <a:xfrm rot="0">
            <a:off x="10937639" y="2814363"/>
            <a:ext cx="7118154" cy="571959"/>
          </a:xfrm>
          <a:prstGeom prst="rect">
            <a:avLst/>
          </a:prstGeom>
        </p:spPr>
        <p:txBody>
          <a:bodyPr anchor="t" rtlCol="false" tIns="0" lIns="0" bIns="0" rIns="0">
            <a:spAutoFit/>
          </a:bodyPr>
          <a:lstStyle/>
          <a:p>
            <a:pPr algn="l">
              <a:lnSpc>
                <a:spcPts val="4701"/>
              </a:lnSpc>
            </a:pPr>
            <a:r>
              <a:rPr lang="en-US" sz="3357" spc="67" b="true">
                <a:solidFill>
                  <a:srgbClr val="0C586D"/>
                </a:solidFill>
                <a:latin typeface="Proxima Nova Bold"/>
                <a:ea typeface="Proxima Nova Bold"/>
                <a:cs typeface="Proxima Nova Bold"/>
                <a:sym typeface="Proxima Nova Bold"/>
              </a:rPr>
              <a:t>Temuan Kritis Pada Kolom ‘ ’ CSV</a:t>
            </a:r>
          </a:p>
        </p:txBody>
      </p:sp>
      <p:grpSp>
        <p:nvGrpSpPr>
          <p:cNvPr name="Group 15" id="15"/>
          <p:cNvGrpSpPr/>
          <p:nvPr/>
        </p:nvGrpSpPr>
        <p:grpSpPr>
          <a:xfrm rot="0">
            <a:off x="735442" y="4241166"/>
            <a:ext cx="3944686" cy="1925258"/>
            <a:chOff x="0" y="0"/>
            <a:chExt cx="1038930" cy="507064"/>
          </a:xfrm>
        </p:grpSpPr>
        <p:sp>
          <p:nvSpPr>
            <p:cNvPr name="Freeform 16" id="16"/>
            <p:cNvSpPr/>
            <p:nvPr/>
          </p:nvSpPr>
          <p:spPr>
            <a:xfrm flipH="false" flipV="false" rot="0">
              <a:off x="0" y="0"/>
              <a:ext cx="1038930" cy="507064"/>
            </a:xfrm>
            <a:custGeom>
              <a:avLst/>
              <a:gdLst/>
              <a:ahLst/>
              <a:cxnLst/>
              <a:rect r="r" b="b" t="t" l="l"/>
              <a:pathLst>
                <a:path h="507064" w="1038930">
                  <a:moveTo>
                    <a:pt x="78505" y="0"/>
                  </a:moveTo>
                  <a:lnTo>
                    <a:pt x="960425" y="0"/>
                  </a:lnTo>
                  <a:cubicBezTo>
                    <a:pt x="981245" y="0"/>
                    <a:pt x="1001213" y="8271"/>
                    <a:pt x="1015936" y="22994"/>
                  </a:cubicBezTo>
                  <a:cubicBezTo>
                    <a:pt x="1030659" y="37716"/>
                    <a:pt x="1038930" y="57684"/>
                    <a:pt x="1038930" y="78505"/>
                  </a:cubicBezTo>
                  <a:lnTo>
                    <a:pt x="1038930" y="428559"/>
                  </a:lnTo>
                  <a:cubicBezTo>
                    <a:pt x="1038930" y="471916"/>
                    <a:pt x="1003782" y="507064"/>
                    <a:pt x="960425" y="507064"/>
                  </a:cubicBezTo>
                  <a:lnTo>
                    <a:pt x="78505" y="507064"/>
                  </a:lnTo>
                  <a:cubicBezTo>
                    <a:pt x="57684" y="507064"/>
                    <a:pt x="37716" y="498793"/>
                    <a:pt x="22994" y="484070"/>
                  </a:cubicBezTo>
                  <a:cubicBezTo>
                    <a:pt x="8271" y="469348"/>
                    <a:pt x="0" y="449380"/>
                    <a:pt x="0" y="428559"/>
                  </a:cubicBezTo>
                  <a:lnTo>
                    <a:pt x="0" y="78505"/>
                  </a:lnTo>
                  <a:cubicBezTo>
                    <a:pt x="0" y="57684"/>
                    <a:pt x="8271" y="37716"/>
                    <a:pt x="22994" y="22994"/>
                  </a:cubicBezTo>
                  <a:cubicBezTo>
                    <a:pt x="37716" y="8271"/>
                    <a:pt x="57684" y="0"/>
                    <a:pt x="78505" y="0"/>
                  </a:cubicBezTo>
                  <a:close/>
                </a:path>
              </a:pathLst>
            </a:custGeom>
            <a:solidFill>
              <a:srgbClr val="0C586D"/>
            </a:solidFill>
          </p:spPr>
        </p:sp>
        <p:sp>
          <p:nvSpPr>
            <p:cNvPr name="TextBox 17" id="17"/>
            <p:cNvSpPr txBox="true"/>
            <p:nvPr/>
          </p:nvSpPr>
          <p:spPr>
            <a:xfrm>
              <a:off x="0" y="-38100"/>
              <a:ext cx="1038930" cy="545164"/>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1110688" y="4504148"/>
            <a:ext cx="4386421" cy="1054570"/>
          </a:xfrm>
          <a:prstGeom prst="rect">
            <a:avLst/>
          </a:prstGeom>
        </p:spPr>
        <p:txBody>
          <a:bodyPr anchor="t" rtlCol="false" tIns="0" lIns="0" bIns="0" rIns="0">
            <a:spAutoFit/>
          </a:bodyPr>
          <a:lstStyle/>
          <a:p>
            <a:pPr algn="l">
              <a:lnSpc>
                <a:spcPts val="3544"/>
              </a:lnSpc>
            </a:pPr>
            <a:r>
              <a:rPr lang="en-US" sz="2531" spc="75">
                <a:solidFill>
                  <a:srgbClr val="8BD4BE"/>
                </a:solidFill>
                <a:latin typeface="League Spartan"/>
                <a:ea typeface="League Spartan"/>
                <a:cs typeface="League Spartan"/>
                <a:sym typeface="League Spartan"/>
              </a:rPr>
              <a:t>1.291</a:t>
            </a:r>
          </a:p>
          <a:p>
            <a:pPr algn="l">
              <a:lnSpc>
                <a:spcPts val="2844"/>
              </a:lnSpc>
            </a:pPr>
            <a:r>
              <a:rPr lang="en-US" sz="2031" spc="60">
                <a:solidFill>
                  <a:srgbClr val="FFFFFF"/>
                </a:solidFill>
                <a:latin typeface="Hammersmith One"/>
                <a:ea typeface="Hammersmith One"/>
                <a:cs typeface="Hammersmith One"/>
                <a:sym typeface="Hammersmith One"/>
              </a:rPr>
              <a:t>TOTAL BARIS MENTAH</a:t>
            </a:r>
          </a:p>
          <a:p>
            <a:pPr algn="l">
              <a:lnSpc>
                <a:spcPts val="2004"/>
              </a:lnSpc>
            </a:pPr>
            <a:r>
              <a:rPr lang="en-US" sz="1431" spc="42">
                <a:solidFill>
                  <a:srgbClr val="FFFFFF"/>
                </a:solidFill>
                <a:latin typeface="Arial Unicode"/>
                <a:ea typeface="Arial Unicode"/>
                <a:cs typeface="Arial Unicode"/>
                <a:sym typeface="Arial Unicode"/>
              </a:rPr>
              <a:t>Loaded dari 8 file CSV mentah</a:t>
            </a:r>
          </a:p>
        </p:txBody>
      </p:sp>
      <p:grpSp>
        <p:nvGrpSpPr>
          <p:cNvPr name="Group 19" id="19"/>
          <p:cNvGrpSpPr/>
          <p:nvPr/>
        </p:nvGrpSpPr>
        <p:grpSpPr>
          <a:xfrm rot="0">
            <a:off x="735442" y="6595049"/>
            <a:ext cx="3944686" cy="1925258"/>
            <a:chOff x="0" y="0"/>
            <a:chExt cx="1038930" cy="507064"/>
          </a:xfrm>
        </p:grpSpPr>
        <p:sp>
          <p:nvSpPr>
            <p:cNvPr name="Freeform 20" id="20"/>
            <p:cNvSpPr/>
            <p:nvPr/>
          </p:nvSpPr>
          <p:spPr>
            <a:xfrm flipH="false" flipV="false" rot="0">
              <a:off x="0" y="0"/>
              <a:ext cx="1038930" cy="507064"/>
            </a:xfrm>
            <a:custGeom>
              <a:avLst/>
              <a:gdLst/>
              <a:ahLst/>
              <a:cxnLst/>
              <a:rect r="r" b="b" t="t" l="l"/>
              <a:pathLst>
                <a:path h="507064" w="1038930">
                  <a:moveTo>
                    <a:pt x="78505" y="0"/>
                  </a:moveTo>
                  <a:lnTo>
                    <a:pt x="960425" y="0"/>
                  </a:lnTo>
                  <a:cubicBezTo>
                    <a:pt x="981245" y="0"/>
                    <a:pt x="1001213" y="8271"/>
                    <a:pt x="1015936" y="22994"/>
                  </a:cubicBezTo>
                  <a:cubicBezTo>
                    <a:pt x="1030659" y="37716"/>
                    <a:pt x="1038930" y="57684"/>
                    <a:pt x="1038930" y="78505"/>
                  </a:cubicBezTo>
                  <a:lnTo>
                    <a:pt x="1038930" y="428559"/>
                  </a:lnTo>
                  <a:cubicBezTo>
                    <a:pt x="1038930" y="471916"/>
                    <a:pt x="1003782" y="507064"/>
                    <a:pt x="960425" y="507064"/>
                  </a:cubicBezTo>
                  <a:lnTo>
                    <a:pt x="78505" y="507064"/>
                  </a:lnTo>
                  <a:cubicBezTo>
                    <a:pt x="57684" y="507064"/>
                    <a:pt x="37716" y="498793"/>
                    <a:pt x="22994" y="484070"/>
                  </a:cubicBezTo>
                  <a:cubicBezTo>
                    <a:pt x="8271" y="469348"/>
                    <a:pt x="0" y="449380"/>
                    <a:pt x="0" y="428559"/>
                  </a:cubicBezTo>
                  <a:lnTo>
                    <a:pt x="0" y="78505"/>
                  </a:lnTo>
                  <a:cubicBezTo>
                    <a:pt x="0" y="57684"/>
                    <a:pt x="8271" y="37716"/>
                    <a:pt x="22994" y="22994"/>
                  </a:cubicBezTo>
                  <a:cubicBezTo>
                    <a:pt x="37716" y="8271"/>
                    <a:pt x="57684" y="0"/>
                    <a:pt x="78505" y="0"/>
                  </a:cubicBezTo>
                  <a:close/>
                </a:path>
              </a:pathLst>
            </a:custGeom>
            <a:solidFill>
              <a:srgbClr val="0C586D"/>
            </a:solidFill>
          </p:spPr>
        </p:sp>
        <p:sp>
          <p:nvSpPr>
            <p:cNvPr name="TextBox 21" id="21"/>
            <p:cNvSpPr txBox="true"/>
            <p:nvPr/>
          </p:nvSpPr>
          <p:spPr>
            <a:xfrm>
              <a:off x="0" y="-38100"/>
              <a:ext cx="1038930" cy="545164"/>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4941166" y="4241166"/>
            <a:ext cx="3944686" cy="1925258"/>
            <a:chOff x="0" y="0"/>
            <a:chExt cx="1038930" cy="507064"/>
          </a:xfrm>
        </p:grpSpPr>
        <p:sp>
          <p:nvSpPr>
            <p:cNvPr name="Freeform 23" id="23"/>
            <p:cNvSpPr/>
            <p:nvPr/>
          </p:nvSpPr>
          <p:spPr>
            <a:xfrm flipH="false" flipV="false" rot="0">
              <a:off x="0" y="0"/>
              <a:ext cx="1038930" cy="507064"/>
            </a:xfrm>
            <a:custGeom>
              <a:avLst/>
              <a:gdLst/>
              <a:ahLst/>
              <a:cxnLst/>
              <a:rect r="r" b="b" t="t" l="l"/>
              <a:pathLst>
                <a:path h="507064" w="1038930">
                  <a:moveTo>
                    <a:pt x="78505" y="0"/>
                  </a:moveTo>
                  <a:lnTo>
                    <a:pt x="960425" y="0"/>
                  </a:lnTo>
                  <a:cubicBezTo>
                    <a:pt x="981245" y="0"/>
                    <a:pt x="1001213" y="8271"/>
                    <a:pt x="1015936" y="22994"/>
                  </a:cubicBezTo>
                  <a:cubicBezTo>
                    <a:pt x="1030659" y="37716"/>
                    <a:pt x="1038930" y="57684"/>
                    <a:pt x="1038930" y="78505"/>
                  </a:cubicBezTo>
                  <a:lnTo>
                    <a:pt x="1038930" y="428559"/>
                  </a:lnTo>
                  <a:cubicBezTo>
                    <a:pt x="1038930" y="471916"/>
                    <a:pt x="1003782" y="507064"/>
                    <a:pt x="960425" y="507064"/>
                  </a:cubicBezTo>
                  <a:lnTo>
                    <a:pt x="78505" y="507064"/>
                  </a:lnTo>
                  <a:cubicBezTo>
                    <a:pt x="57684" y="507064"/>
                    <a:pt x="37716" y="498793"/>
                    <a:pt x="22994" y="484070"/>
                  </a:cubicBezTo>
                  <a:cubicBezTo>
                    <a:pt x="8271" y="469348"/>
                    <a:pt x="0" y="449380"/>
                    <a:pt x="0" y="428559"/>
                  </a:cubicBezTo>
                  <a:lnTo>
                    <a:pt x="0" y="78505"/>
                  </a:lnTo>
                  <a:cubicBezTo>
                    <a:pt x="0" y="57684"/>
                    <a:pt x="8271" y="37716"/>
                    <a:pt x="22994" y="22994"/>
                  </a:cubicBezTo>
                  <a:cubicBezTo>
                    <a:pt x="37716" y="8271"/>
                    <a:pt x="57684" y="0"/>
                    <a:pt x="78505" y="0"/>
                  </a:cubicBezTo>
                  <a:close/>
                </a:path>
              </a:pathLst>
            </a:custGeom>
            <a:solidFill>
              <a:srgbClr val="0C586D"/>
            </a:solidFill>
          </p:spPr>
        </p:sp>
        <p:sp>
          <p:nvSpPr>
            <p:cNvPr name="TextBox 24" id="24"/>
            <p:cNvSpPr txBox="true"/>
            <p:nvPr/>
          </p:nvSpPr>
          <p:spPr>
            <a:xfrm>
              <a:off x="0" y="-38100"/>
              <a:ext cx="1038930" cy="545164"/>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4941166" y="6595049"/>
            <a:ext cx="3944686" cy="1925258"/>
            <a:chOff x="0" y="0"/>
            <a:chExt cx="1038930" cy="507064"/>
          </a:xfrm>
        </p:grpSpPr>
        <p:sp>
          <p:nvSpPr>
            <p:cNvPr name="Freeform 26" id="26"/>
            <p:cNvSpPr/>
            <p:nvPr/>
          </p:nvSpPr>
          <p:spPr>
            <a:xfrm flipH="false" flipV="false" rot="0">
              <a:off x="0" y="0"/>
              <a:ext cx="1038930" cy="507064"/>
            </a:xfrm>
            <a:custGeom>
              <a:avLst/>
              <a:gdLst/>
              <a:ahLst/>
              <a:cxnLst/>
              <a:rect r="r" b="b" t="t" l="l"/>
              <a:pathLst>
                <a:path h="507064" w="1038930">
                  <a:moveTo>
                    <a:pt x="78505" y="0"/>
                  </a:moveTo>
                  <a:lnTo>
                    <a:pt x="960425" y="0"/>
                  </a:lnTo>
                  <a:cubicBezTo>
                    <a:pt x="981245" y="0"/>
                    <a:pt x="1001213" y="8271"/>
                    <a:pt x="1015936" y="22994"/>
                  </a:cubicBezTo>
                  <a:cubicBezTo>
                    <a:pt x="1030659" y="37716"/>
                    <a:pt x="1038930" y="57684"/>
                    <a:pt x="1038930" y="78505"/>
                  </a:cubicBezTo>
                  <a:lnTo>
                    <a:pt x="1038930" y="428559"/>
                  </a:lnTo>
                  <a:cubicBezTo>
                    <a:pt x="1038930" y="471916"/>
                    <a:pt x="1003782" y="507064"/>
                    <a:pt x="960425" y="507064"/>
                  </a:cubicBezTo>
                  <a:lnTo>
                    <a:pt x="78505" y="507064"/>
                  </a:lnTo>
                  <a:cubicBezTo>
                    <a:pt x="57684" y="507064"/>
                    <a:pt x="37716" y="498793"/>
                    <a:pt x="22994" y="484070"/>
                  </a:cubicBezTo>
                  <a:cubicBezTo>
                    <a:pt x="8271" y="469348"/>
                    <a:pt x="0" y="449380"/>
                    <a:pt x="0" y="428559"/>
                  </a:cubicBezTo>
                  <a:lnTo>
                    <a:pt x="0" y="78505"/>
                  </a:lnTo>
                  <a:cubicBezTo>
                    <a:pt x="0" y="57684"/>
                    <a:pt x="8271" y="37716"/>
                    <a:pt x="22994" y="22994"/>
                  </a:cubicBezTo>
                  <a:cubicBezTo>
                    <a:pt x="37716" y="8271"/>
                    <a:pt x="57684" y="0"/>
                    <a:pt x="78505" y="0"/>
                  </a:cubicBezTo>
                  <a:close/>
                </a:path>
              </a:pathLst>
            </a:custGeom>
            <a:solidFill>
              <a:srgbClr val="0C586D"/>
            </a:solidFill>
          </p:spPr>
        </p:sp>
        <p:sp>
          <p:nvSpPr>
            <p:cNvPr name="TextBox 27" id="27"/>
            <p:cNvSpPr txBox="true"/>
            <p:nvPr/>
          </p:nvSpPr>
          <p:spPr>
            <a:xfrm>
              <a:off x="0" y="-38100"/>
              <a:ext cx="1038930" cy="545164"/>
            </a:xfrm>
            <a:prstGeom prst="rect">
              <a:avLst/>
            </a:prstGeom>
          </p:spPr>
          <p:txBody>
            <a:bodyPr anchor="ctr" rtlCol="false" tIns="50800" lIns="50800" bIns="50800" rIns="50800"/>
            <a:lstStyle/>
            <a:p>
              <a:pPr algn="ctr">
                <a:lnSpc>
                  <a:spcPts val="2659"/>
                </a:lnSpc>
              </a:pPr>
            </a:p>
          </p:txBody>
        </p:sp>
      </p:grpSp>
      <p:sp>
        <p:nvSpPr>
          <p:cNvPr name="TextBox 28" id="28"/>
          <p:cNvSpPr txBox="true"/>
          <p:nvPr/>
        </p:nvSpPr>
        <p:spPr>
          <a:xfrm rot="0">
            <a:off x="-2914944" y="9679151"/>
            <a:ext cx="8711050" cy="338952"/>
          </a:xfrm>
          <a:prstGeom prst="rect">
            <a:avLst/>
          </a:prstGeom>
        </p:spPr>
        <p:txBody>
          <a:bodyPr anchor="t" rtlCol="false" tIns="0" lIns="0" bIns="0" rIns="0">
            <a:spAutoFit/>
          </a:bodyPr>
          <a:lstStyle/>
          <a:p>
            <a:pPr algn="l">
              <a:lnSpc>
                <a:spcPts val="2844"/>
              </a:lnSpc>
            </a:pPr>
            <a:r>
              <a:rPr lang="en-US" sz="2031" spc="60">
                <a:solidFill>
                  <a:srgbClr val="FFFFFF"/>
                </a:solidFill>
                <a:latin typeface="Proxima Nova"/>
                <a:ea typeface="Proxima Nova"/>
                <a:cs typeface="Proxima Nova"/>
                <a:sym typeface="Proxima Nova"/>
              </a:rPr>
              <a:t>DUPLIKAT DIBUANG</a:t>
            </a:r>
          </a:p>
        </p:txBody>
      </p:sp>
      <p:sp>
        <p:nvSpPr>
          <p:cNvPr name="TextBox 29" id="29"/>
          <p:cNvSpPr txBox="true"/>
          <p:nvPr/>
        </p:nvSpPr>
        <p:spPr>
          <a:xfrm rot="0">
            <a:off x="5315189" y="4504148"/>
            <a:ext cx="4386421" cy="1054570"/>
          </a:xfrm>
          <a:prstGeom prst="rect">
            <a:avLst/>
          </a:prstGeom>
        </p:spPr>
        <p:txBody>
          <a:bodyPr anchor="t" rtlCol="false" tIns="0" lIns="0" bIns="0" rIns="0">
            <a:spAutoFit/>
          </a:bodyPr>
          <a:lstStyle/>
          <a:p>
            <a:pPr algn="l">
              <a:lnSpc>
                <a:spcPts val="3544"/>
              </a:lnSpc>
            </a:pPr>
            <a:r>
              <a:rPr lang="en-US" sz="2531" spc="75">
                <a:solidFill>
                  <a:srgbClr val="8BD4BE"/>
                </a:solidFill>
                <a:latin typeface="League Spartan"/>
                <a:ea typeface="League Spartan"/>
                <a:cs typeface="League Spartan"/>
                <a:sym typeface="League Spartan"/>
              </a:rPr>
              <a:t>836</a:t>
            </a:r>
          </a:p>
          <a:p>
            <a:pPr algn="l">
              <a:lnSpc>
                <a:spcPts val="2844"/>
              </a:lnSpc>
            </a:pPr>
            <a:r>
              <a:rPr lang="en-US" sz="2031" spc="60">
                <a:solidFill>
                  <a:srgbClr val="FFFFFF"/>
                </a:solidFill>
                <a:latin typeface="Hammersmith One"/>
                <a:ea typeface="Hammersmith One"/>
                <a:cs typeface="Hammersmith One"/>
                <a:sym typeface="Hammersmith One"/>
              </a:rPr>
              <a:t>ARTIKEL UNIK</a:t>
            </a:r>
          </a:p>
          <a:p>
            <a:pPr algn="l">
              <a:lnSpc>
                <a:spcPts val="2004"/>
              </a:lnSpc>
            </a:pPr>
            <a:r>
              <a:rPr lang="en-US" sz="1431" spc="42">
                <a:solidFill>
                  <a:srgbClr val="FFFFFF"/>
                </a:solidFill>
                <a:latin typeface="Arial Unicode"/>
                <a:ea typeface="Arial Unicode"/>
                <a:cs typeface="Arial Unicode"/>
                <a:sym typeface="Arial Unicode"/>
              </a:rPr>
              <a:t>Setelah pembersihan duplikat</a:t>
            </a:r>
          </a:p>
        </p:txBody>
      </p:sp>
      <p:sp>
        <p:nvSpPr>
          <p:cNvPr name="TextBox 30" id="30"/>
          <p:cNvSpPr txBox="true"/>
          <p:nvPr/>
        </p:nvSpPr>
        <p:spPr>
          <a:xfrm rot="0">
            <a:off x="1110688" y="6861749"/>
            <a:ext cx="4386421" cy="1054570"/>
          </a:xfrm>
          <a:prstGeom prst="rect">
            <a:avLst/>
          </a:prstGeom>
        </p:spPr>
        <p:txBody>
          <a:bodyPr anchor="t" rtlCol="false" tIns="0" lIns="0" bIns="0" rIns="0">
            <a:spAutoFit/>
          </a:bodyPr>
          <a:lstStyle/>
          <a:p>
            <a:pPr algn="l">
              <a:lnSpc>
                <a:spcPts val="3544"/>
              </a:lnSpc>
            </a:pPr>
            <a:r>
              <a:rPr lang="en-US" sz="2531" spc="75">
                <a:solidFill>
                  <a:srgbClr val="8BD4BE"/>
                </a:solidFill>
                <a:latin typeface="League Spartan"/>
                <a:ea typeface="League Spartan"/>
                <a:cs typeface="League Spartan"/>
                <a:sym typeface="League Spartan"/>
              </a:rPr>
              <a:t>455</a:t>
            </a:r>
          </a:p>
          <a:p>
            <a:pPr algn="l">
              <a:lnSpc>
                <a:spcPts val="2844"/>
              </a:lnSpc>
            </a:pPr>
            <a:r>
              <a:rPr lang="en-US" sz="2031" spc="60">
                <a:solidFill>
                  <a:srgbClr val="FFFFFF"/>
                </a:solidFill>
                <a:latin typeface="Hammersmith One"/>
                <a:ea typeface="Hammersmith One"/>
                <a:cs typeface="Hammersmith One"/>
                <a:sym typeface="Hammersmith One"/>
              </a:rPr>
              <a:t>DUPLIKAT DIBUANG</a:t>
            </a:r>
          </a:p>
          <a:p>
            <a:pPr algn="l">
              <a:lnSpc>
                <a:spcPts val="2004"/>
              </a:lnSpc>
            </a:pPr>
            <a:r>
              <a:rPr lang="en-US" sz="1431" spc="42">
                <a:solidFill>
                  <a:srgbClr val="FFFFFF"/>
                </a:solidFill>
                <a:latin typeface="Arial Unicode"/>
                <a:ea typeface="Arial Unicode"/>
                <a:cs typeface="Arial Unicode"/>
                <a:sym typeface="Arial Unicode"/>
              </a:rPr>
              <a:t>Berdasarkan original_id</a:t>
            </a:r>
          </a:p>
        </p:txBody>
      </p:sp>
      <p:sp>
        <p:nvSpPr>
          <p:cNvPr name="TextBox 31" id="31"/>
          <p:cNvSpPr txBox="true"/>
          <p:nvPr/>
        </p:nvSpPr>
        <p:spPr>
          <a:xfrm rot="0">
            <a:off x="-3036497" y="9219351"/>
            <a:ext cx="4386421" cy="1036898"/>
          </a:xfrm>
          <a:prstGeom prst="rect">
            <a:avLst/>
          </a:prstGeom>
        </p:spPr>
        <p:txBody>
          <a:bodyPr anchor="t" rtlCol="false" tIns="0" lIns="0" bIns="0" rIns="0">
            <a:spAutoFit/>
          </a:bodyPr>
          <a:lstStyle/>
          <a:p>
            <a:pPr algn="l">
              <a:lnSpc>
                <a:spcPts val="3544"/>
              </a:lnSpc>
            </a:pPr>
            <a:r>
              <a:rPr lang="en-US" sz="2531" spc="75">
                <a:solidFill>
                  <a:srgbClr val="8BD4BE"/>
                </a:solidFill>
                <a:latin typeface="Hammersmith One"/>
                <a:ea typeface="Hammersmith One"/>
                <a:cs typeface="Hammersmith One"/>
                <a:sym typeface="Hammersmith One"/>
              </a:rPr>
              <a:t>292493U48989</a:t>
            </a:r>
          </a:p>
          <a:p>
            <a:pPr algn="l">
              <a:lnSpc>
                <a:spcPts val="2844"/>
              </a:lnSpc>
            </a:pPr>
            <a:r>
              <a:rPr lang="en-US" sz="2031" spc="60">
                <a:solidFill>
                  <a:srgbClr val="FFFFFF"/>
                </a:solidFill>
                <a:latin typeface="Hammersmith One"/>
                <a:ea typeface="Hammersmith One"/>
                <a:cs typeface="Hammersmith One"/>
                <a:sym typeface="Hammersmith One"/>
              </a:rPr>
              <a:t>TOTAL BARIS MENTAH</a:t>
            </a:r>
          </a:p>
          <a:p>
            <a:pPr algn="l">
              <a:lnSpc>
                <a:spcPts val="1864"/>
              </a:lnSpc>
            </a:pPr>
            <a:r>
              <a:rPr lang="en-US" sz="1331" spc="39">
                <a:solidFill>
                  <a:srgbClr val="FFFFFF"/>
                </a:solidFill>
                <a:latin typeface="Hammersmith One"/>
                <a:ea typeface="Hammersmith One"/>
                <a:cs typeface="Hammersmith One"/>
                <a:sym typeface="Hammersmith One"/>
              </a:rPr>
              <a:t>Loaded dari 8 file CSV mentah</a:t>
            </a:r>
          </a:p>
        </p:txBody>
      </p:sp>
      <p:sp>
        <p:nvSpPr>
          <p:cNvPr name="TextBox 32" id="32"/>
          <p:cNvSpPr txBox="true"/>
          <p:nvPr/>
        </p:nvSpPr>
        <p:spPr>
          <a:xfrm rot="0">
            <a:off x="5315189" y="6861749"/>
            <a:ext cx="4386421" cy="1054570"/>
          </a:xfrm>
          <a:prstGeom prst="rect">
            <a:avLst/>
          </a:prstGeom>
        </p:spPr>
        <p:txBody>
          <a:bodyPr anchor="t" rtlCol="false" tIns="0" lIns="0" bIns="0" rIns="0">
            <a:spAutoFit/>
          </a:bodyPr>
          <a:lstStyle/>
          <a:p>
            <a:pPr algn="l">
              <a:lnSpc>
                <a:spcPts val="3544"/>
              </a:lnSpc>
            </a:pPr>
            <a:r>
              <a:rPr lang="en-US" sz="2531" spc="75">
                <a:solidFill>
                  <a:srgbClr val="8BD4BE"/>
                </a:solidFill>
                <a:latin typeface="League Spartan"/>
                <a:ea typeface="League Spartan"/>
                <a:cs typeface="League Spartan"/>
                <a:sym typeface="League Spartan"/>
              </a:rPr>
              <a:t>0</a:t>
            </a:r>
          </a:p>
          <a:p>
            <a:pPr algn="l">
              <a:lnSpc>
                <a:spcPts val="2844"/>
              </a:lnSpc>
            </a:pPr>
            <a:r>
              <a:rPr lang="en-US" sz="2031" spc="60">
                <a:solidFill>
                  <a:srgbClr val="FFFFFF"/>
                </a:solidFill>
                <a:latin typeface="Hammersmith One"/>
                <a:ea typeface="Hammersmith One"/>
                <a:cs typeface="Hammersmith One"/>
                <a:sym typeface="Hammersmith One"/>
              </a:rPr>
              <a:t>BARIS KOSONG</a:t>
            </a:r>
          </a:p>
          <a:p>
            <a:pPr algn="l">
              <a:lnSpc>
                <a:spcPts val="2004"/>
              </a:lnSpc>
            </a:pPr>
            <a:r>
              <a:rPr lang="en-US" sz="1431" spc="42">
                <a:solidFill>
                  <a:srgbClr val="FFFFFF"/>
                </a:solidFill>
                <a:latin typeface="Arial Unicode"/>
                <a:ea typeface="Arial Unicode"/>
                <a:cs typeface="Arial Unicode"/>
                <a:sym typeface="Arial Unicode"/>
              </a:rPr>
              <a:t>Judul / Body tidak terisi</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DFA"/>
        </a:solidFill>
      </p:bgPr>
    </p:bg>
    <p:spTree>
      <p:nvGrpSpPr>
        <p:cNvPr id="1" name=""/>
        <p:cNvGrpSpPr/>
        <p:nvPr/>
      </p:nvGrpSpPr>
      <p:grpSpPr>
        <a:xfrm>
          <a:off x="0" y="0"/>
          <a:ext cx="0" cy="0"/>
          <a:chOff x="0" y="0"/>
          <a:chExt cx="0" cy="0"/>
        </a:xfrm>
      </p:grpSpPr>
      <p:sp>
        <p:nvSpPr>
          <p:cNvPr name="AutoShape 2" id="2"/>
          <p:cNvSpPr/>
          <p:nvPr/>
        </p:nvSpPr>
        <p:spPr>
          <a:xfrm>
            <a:off x="511157" y="9239250"/>
            <a:ext cx="17265685" cy="0"/>
          </a:xfrm>
          <a:prstGeom prst="line">
            <a:avLst/>
          </a:prstGeom>
          <a:ln cap="flat" w="38100">
            <a:solidFill>
              <a:srgbClr val="093A47"/>
            </a:solidFill>
            <a:prstDash val="solid"/>
            <a:headEnd type="none" len="sm" w="sm"/>
            <a:tailEnd type="none" len="sm" w="sm"/>
          </a:ln>
        </p:spPr>
      </p:sp>
      <p:sp>
        <p:nvSpPr>
          <p:cNvPr name="AutoShape 3" id="3"/>
          <p:cNvSpPr/>
          <p:nvPr/>
        </p:nvSpPr>
        <p:spPr>
          <a:xfrm>
            <a:off x="511157" y="1028700"/>
            <a:ext cx="17265685" cy="0"/>
          </a:xfrm>
          <a:prstGeom prst="line">
            <a:avLst/>
          </a:prstGeom>
          <a:ln cap="flat" w="38100">
            <a:solidFill>
              <a:srgbClr val="093A47"/>
            </a:solidFill>
            <a:prstDash val="solid"/>
            <a:headEnd type="none" len="sm" w="sm"/>
            <a:tailEnd type="none" len="sm" w="sm"/>
          </a:ln>
        </p:spPr>
      </p:sp>
      <p:sp>
        <p:nvSpPr>
          <p:cNvPr name="Freeform 4" id="4"/>
          <p:cNvSpPr/>
          <p:nvPr/>
        </p:nvSpPr>
        <p:spPr>
          <a:xfrm flipH="true" flipV="false" rot="0">
            <a:off x="17473987" y="9485033"/>
            <a:ext cx="302856" cy="302856"/>
          </a:xfrm>
          <a:custGeom>
            <a:avLst/>
            <a:gdLst/>
            <a:ahLst/>
            <a:cxnLst/>
            <a:rect r="r" b="b" t="t" l="l"/>
            <a:pathLst>
              <a:path h="302856" w="302856">
                <a:moveTo>
                  <a:pt x="302856" y="0"/>
                </a:moveTo>
                <a:lnTo>
                  <a:pt x="0" y="0"/>
                </a:lnTo>
                <a:lnTo>
                  <a:pt x="0" y="302856"/>
                </a:lnTo>
                <a:lnTo>
                  <a:pt x="302856" y="302856"/>
                </a:lnTo>
                <a:lnTo>
                  <a:pt x="30285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511157" y="359544"/>
            <a:ext cx="458544" cy="431031"/>
          </a:xfrm>
          <a:custGeom>
            <a:avLst/>
            <a:gdLst/>
            <a:ahLst/>
            <a:cxnLst/>
            <a:rect r="r" b="b" t="t" l="l"/>
            <a:pathLst>
              <a:path h="431031" w="458544">
                <a:moveTo>
                  <a:pt x="0" y="0"/>
                </a:moveTo>
                <a:lnTo>
                  <a:pt x="458545" y="0"/>
                </a:lnTo>
                <a:lnTo>
                  <a:pt x="458545" y="431031"/>
                </a:lnTo>
                <a:lnTo>
                  <a:pt x="0" y="4310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7345811" y="359544"/>
            <a:ext cx="431031" cy="43103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93A47"/>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940"/>
                </a:lnSpc>
              </a:pPr>
            </a:p>
          </p:txBody>
        </p:sp>
      </p:grpSp>
      <p:sp>
        <p:nvSpPr>
          <p:cNvPr name="TextBox 9" id="9"/>
          <p:cNvSpPr txBox="true"/>
          <p:nvPr/>
        </p:nvSpPr>
        <p:spPr>
          <a:xfrm rot="0">
            <a:off x="1017327" y="377873"/>
            <a:ext cx="1939146" cy="356210"/>
          </a:xfrm>
          <a:prstGeom prst="rect">
            <a:avLst/>
          </a:prstGeom>
        </p:spPr>
        <p:txBody>
          <a:bodyPr anchor="t" rtlCol="false" tIns="0" lIns="0" bIns="0" rIns="0">
            <a:spAutoFit/>
          </a:bodyPr>
          <a:lstStyle/>
          <a:p>
            <a:pPr algn="l">
              <a:lnSpc>
                <a:spcPts val="2940"/>
              </a:lnSpc>
            </a:pPr>
            <a:r>
              <a:rPr lang="en-US" sz="2100">
                <a:solidFill>
                  <a:srgbClr val="093A47"/>
                </a:solidFill>
                <a:latin typeface="Proxima Nova"/>
                <a:ea typeface="Proxima Nova"/>
                <a:cs typeface="Proxima Nova"/>
                <a:sym typeface="Proxima Nova"/>
              </a:rPr>
              <a:t>Data Science</a:t>
            </a:r>
          </a:p>
        </p:txBody>
      </p:sp>
      <p:sp>
        <p:nvSpPr>
          <p:cNvPr name="TextBox 10" id="10"/>
          <p:cNvSpPr txBox="true"/>
          <p:nvPr/>
        </p:nvSpPr>
        <p:spPr>
          <a:xfrm rot="0">
            <a:off x="13832455" y="377873"/>
            <a:ext cx="3465731" cy="356272"/>
          </a:xfrm>
          <a:prstGeom prst="rect">
            <a:avLst/>
          </a:prstGeom>
        </p:spPr>
        <p:txBody>
          <a:bodyPr anchor="t" rtlCol="false" tIns="0" lIns="0" bIns="0" rIns="0">
            <a:spAutoFit/>
          </a:bodyPr>
          <a:lstStyle/>
          <a:p>
            <a:pPr algn="r">
              <a:lnSpc>
                <a:spcPts val="2940"/>
              </a:lnSpc>
            </a:pPr>
            <a:r>
              <a:rPr lang="en-US" sz="2100">
                <a:solidFill>
                  <a:srgbClr val="093A47"/>
                </a:solidFill>
                <a:latin typeface="Proxima Nova"/>
                <a:ea typeface="Proxima Nova"/>
                <a:cs typeface="Proxima Nova"/>
                <a:sym typeface="Proxima Nova"/>
              </a:rPr>
              <a:t>Modern Tech Presentation</a:t>
            </a:r>
          </a:p>
        </p:txBody>
      </p:sp>
      <p:sp>
        <p:nvSpPr>
          <p:cNvPr name="TextBox 11" id="11"/>
          <p:cNvSpPr txBox="true"/>
          <p:nvPr/>
        </p:nvSpPr>
        <p:spPr>
          <a:xfrm rot="0">
            <a:off x="17399942" y="478460"/>
            <a:ext cx="322770" cy="231298"/>
          </a:xfrm>
          <a:prstGeom prst="rect">
            <a:avLst/>
          </a:prstGeom>
        </p:spPr>
        <p:txBody>
          <a:bodyPr anchor="t" rtlCol="false" tIns="0" lIns="0" bIns="0" rIns="0">
            <a:spAutoFit/>
          </a:bodyPr>
          <a:lstStyle/>
          <a:p>
            <a:pPr algn="ctr">
              <a:lnSpc>
                <a:spcPts val="1639"/>
              </a:lnSpc>
            </a:pPr>
            <a:r>
              <a:rPr lang="en-US" sz="1821">
                <a:solidFill>
                  <a:srgbClr val="FFFDFA"/>
                </a:solidFill>
                <a:latin typeface="Bebas Neue Cyrillic"/>
                <a:ea typeface="Bebas Neue Cyrillic"/>
                <a:cs typeface="Bebas Neue Cyrillic"/>
                <a:sym typeface="Bebas Neue Cyrillic"/>
              </a:rPr>
              <a:t>05</a:t>
            </a:r>
          </a:p>
        </p:txBody>
      </p:sp>
      <p:sp>
        <p:nvSpPr>
          <p:cNvPr name="TextBox 12" id="12"/>
          <p:cNvSpPr txBox="true"/>
          <p:nvPr/>
        </p:nvSpPr>
        <p:spPr>
          <a:xfrm rot="0">
            <a:off x="511157" y="1614315"/>
            <a:ext cx="13970128" cy="1003459"/>
          </a:xfrm>
          <a:prstGeom prst="rect">
            <a:avLst/>
          </a:prstGeom>
        </p:spPr>
        <p:txBody>
          <a:bodyPr anchor="t" rtlCol="false" tIns="0" lIns="0" bIns="0" rIns="0">
            <a:spAutoFit/>
          </a:bodyPr>
          <a:lstStyle/>
          <a:p>
            <a:pPr algn="l">
              <a:lnSpc>
                <a:spcPts val="7278"/>
              </a:lnSpc>
            </a:pPr>
            <a:r>
              <a:rPr lang="en-US" sz="8086">
                <a:solidFill>
                  <a:srgbClr val="093A47"/>
                </a:solidFill>
                <a:latin typeface="Bebas Neue Cyrillic"/>
                <a:ea typeface="Bebas Neue Cyrillic"/>
                <a:cs typeface="Bebas Neue Cyrillic"/>
                <a:sym typeface="Bebas Neue Cyrillic"/>
              </a:rPr>
              <a:t>Metode dan alur pengembangan model</a:t>
            </a:r>
          </a:p>
        </p:txBody>
      </p:sp>
      <p:sp>
        <p:nvSpPr>
          <p:cNvPr name="TextBox 13" id="13"/>
          <p:cNvSpPr txBox="true"/>
          <p:nvPr/>
        </p:nvSpPr>
        <p:spPr>
          <a:xfrm rot="0">
            <a:off x="511157" y="3570733"/>
            <a:ext cx="8711050" cy="3938321"/>
          </a:xfrm>
          <a:prstGeom prst="rect">
            <a:avLst/>
          </a:prstGeom>
        </p:spPr>
        <p:txBody>
          <a:bodyPr anchor="t" rtlCol="false" tIns="0" lIns="0" bIns="0" rIns="0">
            <a:spAutoFit/>
          </a:bodyPr>
          <a:lstStyle/>
          <a:p>
            <a:pPr algn="l" marL="611319" indent="-305659" lvl="1">
              <a:lnSpc>
                <a:spcPts val="3964"/>
              </a:lnSpc>
              <a:buAutoNum type="arabicPeriod" startAt="1"/>
            </a:pPr>
            <a:r>
              <a:rPr lang="en-US" sz="2831" spc="84">
                <a:solidFill>
                  <a:srgbClr val="093A47"/>
                </a:solidFill>
                <a:latin typeface="Proxima Nova"/>
                <a:ea typeface="Proxima Nova"/>
                <a:cs typeface="Proxima Nova"/>
                <a:sym typeface="Proxima Nova"/>
              </a:rPr>
              <a:t>Membagi data menjadi 3 bagian, yaitu train, validation, dan test.</a:t>
            </a:r>
          </a:p>
          <a:p>
            <a:pPr algn="l" marL="611319" indent="-305659" lvl="1">
              <a:lnSpc>
                <a:spcPts val="3964"/>
              </a:lnSpc>
              <a:buAutoNum type="arabicPeriod" startAt="1"/>
            </a:pPr>
            <a:r>
              <a:rPr lang="en-US" sz="2831" spc="84">
                <a:solidFill>
                  <a:srgbClr val="093A47"/>
                </a:solidFill>
                <a:latin typeface="Proxima Nova"/>
                <a:ea typeface="Proxima Nova"/>
                <a:cs typeface="Proxima Nova"/>
                <a:sym typeface="Proxima Nova"/>
              </a:rPr>
              <a:t>Menjalankan model awal sebagai baseline</a:t>
            </a:r>
          </a:p>
          <a:p>
            <a:pPr algn="l" marL="611319" indent="-305659" lvl="1">
              <a:lnSpc>
                <a:spcPts val="3964"/>
              </a:lnSpc>
              <a:buAutoNum type="arabicPeriod" startAt="1"/>
            </a:pPr>
            <a:r>
              <a:rPr lang="en-US" sz="2831" spc="84">
                <a:solidFill>
                  <a:srgbClr val="093A47"/>
                </a:solidFill>
                <a:latin typeface="Proxima Nova"/>
                <a:ea typeface="Proxima Nova"/>
                <a:cs typeface="Proxima Nova"/>
                <a:sym typeface="Proxima Nova"/>
              </a:rPr>
              <a:t>Melatih model NER menggunakan data berlabel</a:t>
            </a:r>
          </a:p>
          <a:p>
            <a:pPr algn="l" marL="611319" indent="-305659" lvl="1">
              <a:lnSpc>
                <a:spcPts val="3964"/>
              </a:lnSpc>
              <a:buAutoNum type="arabicPeriod" startAt="1"/>
            </a:pPr>
            <a:r>
              <a:rPr lang="en-US" sz="2831" spc="84">
                <a:solidFill>
                  <a:srgbClr val="093A47"/>
                </a:solidFill>
                <a:latin typeface="Proxima Nova"/>
                <a:ea typeface="Proxima Nova"/>
                <a:cs typeface="Proxima Nova"/>
                <a:sym typeface="Proxima Nova"/>
              </a:rPr>
              <a:t>Menggunakan validation untuk pemilihan pengaturan model</a:t>
            </a:r>
          </a:p>
          <a:p>
            <a:pPr algn="l" marL="611319" indent="-305659" lvl="1">
              <a:lnSpc>
                <a:spcPts val="3964"/>
              </a:lnSpc>
              <a:buAutoNum type="arabicPeriod" startAt="1"/>
            </a:pPr>
            <a:r>
              <a:rPr lang="en-US" sz="2831" spc="84">
                <a:solidFill>
                  <a:srgbClr val="093A47"/>
                </a:solidFill>
                <a:latin typeface="Proxima Nova"/>
                <a:ea typeface="Proxima Nova"/>
                <a:cs typeface="Proxima Nova"/>
                <a:sym typeface="Proxima Nova"/>
              </a:rPr>
              <a:t>Menguji model final menggunakan data test yang terpisah.</a:t>
            </a:r>
          </a:p>
        </p:txBody>
      </p:sp>
      <p:sp>
        <p:nvSpPr>
          <p:cNvPr name="TextBox 14" id="14"/>
          <p:cNvSpPr txBox="true"/>
          <p:nvPr/>
        </p:nvSpPr>
        <p:spPr>
          <a:xfrm rot="0">
            <a:off x="9451480" y="6964018"/>
            <a:ext cx="8626007" cy="1957013"/>
          </a:xfrm>
          <a:prstGeom prst="rect">
            <a:avLst/>
          </a:prstGeom>
        </p:spPr>
        <p:txBody>
          <a:bodyPr anchor="t" rtlCol="false" tIns="0" lIns="0" bIns="0" rIns="0">
            <a:spAutoFit/>
          </a:bodyPr>
          <a:lstStyle/>
          <a:p>
            <a:pPr algn="l" marL="611319" indent="-305659" lvl="1">
              <a:lnSpc>
                <a:spcPts val="3964"/>
              </a:lnSpc>
              <a:buAutoNum type="arabicPeriod" startAt="1"/>
            </a:pPr>
            <a:r>
              <a:rPr lang="en-US" sz="2831" spc="84">
                <a:solidFill>
                  <a:srgbClr val="093A47"/>
                </a:solidFill>
                <a:latin typeface="Proxima Nova"/>
                <a:ea typeface="Proxima Nova"/>
                <a:cs typeface="Proxima Nova"/>
                <a:sym typeface="Proxima Nova"/>
              </a:rPr>
              <a:t>Train : digunakan untuk melatih model</a:t>
            </a:r>
          </a:p>
          <a:p>
            <a:pPr algn="l" marL="611319" indent="-305659" lvl="1">
              <a:lnSpc>
                <a:spcPts val="3964"/>
              </a:lnSpc>
              <a:buAutoNum type="arabicPeriod" startAt="1"/>
            </a:pPr>
            <a:r>
              <a:rPr lang="en-US" sz="2831" spc="84">
                <a:solidFill>
                  <a:srgbClr val="093A47"/>
                </a:solidFill>
                <a:latin typeface="Proxima Nova"/>
                <a:ea typeface="Proxima Nova"/>
                <a:cs typeface="Proxima Nova"/>
                <a:sym typeface="Proxima Nova"/>
              </a:rPr>
              <a:t>Validation: digunakan untuk memilih pengaturan model</a:t>
            </a:r>
          </a:p>
          <a:p>
            <a:pPr algn="l" marL="611319" indent="-305659" lvl="1">
              <a:lnSpc>
                <a:spcPts val="3964"/>
              </a:lnSpc>
              <a:buAutoNum type="arabicPeriod" startAt="1"/>
            </a:pPr>
            <a:r>
              <a:rPr lang="en-US" sz="2831" spc="84">
                <a:solidFill>
                  <a:srgbClr val="093A47"/>
                </a:solidFill>
                <a:latin typeface="Proxima Nova"/>
                <a:ea typeface="Proxima Nova"/>
                <a:cs typeface="Proxima Nova"/>
                <a:sym typeface="Proxima Nova"/>
              </a:rPr>
              <a:t>Test: digunakan untuk mengukur kinerja akhir</a:t>
            </a:r>
          </a:p>
        </p:txBody>
      </p:sp>
      <p:sp>
        <p:nvSpPr>
          <p:cNvPr name="TextBox 15" id="15"/>
          <p:cNvSpPr txBox="true"/>
          <p:nvPr/>
        </p:nvSpPr>
        <p:spPr>
          <a:xfrm rot="0">
            <a:off x="511157" y="2827324"/>
            <a:ext cx="5355909" cy="571959"/>
          </a:xfrm>
          <a:prstGeom prst="rect">
            <a:avLst/>
          </a:prstGeom>
        </p:spPr>
        <p:txBody>
          <a:bodyPr anchor="t" rtlCol="false" tIns="0" lIns="0" bIns="0" rIns="0">
            <a:spAutoFit/>
          </a:bodyPr>
          <a:lstStyle/>
          <a:p>
            <a:pPr algn="l">
              <a:lnSpc>
                <a:spcPts val="4701"/>
              </a:lnSpc>
            </a:pPr>
            <a:r>
              <a:rPr lang="en-US" sz="3357" spc="67" b="true">
                <a:solidFill>
                  <a:srgbClr val="0C586D"/>
                </a:solidFill>
                <a:latin typeface="Proxima Nova Bold"/>
                <a:ea typeface="Proxima Nova Bold"/>
                <a:cs typeface="Proxima Nova Bold"/>
                <a:sym typeface="Proxima Nova Bold"/>
              </a:rPr>
              <a:t>Tahapan pengembangan</a:t>
            </a:r>
          </a:p>
        </p:txBody>
      </p:sp>
      <p:sp>
        <p:nvSpPr>
          <p:cNvPr name="TextBox 16" id="16"/>
          <p:cNvSpPr txBox="true"/>
          <p:nvPr/>
        </p:nvSpPr>
        <p:spPr>
          <a:xfrm rot="0">
            <a:off x="9587423" y="6232724"/>
            <a:ext cx="5355909" cy="571959"/>
          </a:xfrm>
          <a:prstGeom prst="rect">
            <a:avLst/>
          </a:prstGeom>
        </p:spPr>
        <p:txBody>
          <a:bodyPr anchor="t" rtlCol="false" tIns="0" lIns="0" bIns="0" rIns="0">
            <a:spAutoFit/>
          </a:bodyPr>
          <a:lstStyle/>
          <a:p>
            <a:pPr algn="l">
              <a:lnSpc>
                <a:spcPts val="4701"/>
              </a:lnSpc>
            </a:pPr>
            <a:r>
              <a:rPr lang="en-US" sz="3357" spc="67" b="true">
                <a:solidFill>
                  <a:srgbClr val="0C586D"/>
                </a:solidFill>
                <a:latin typeface="Proxima Nova Bold"/>
                <a:ea typeface="Proxima Nova Bold"/>
                <a:cs typeface="Proxima Nova Bold"/>
                <a:sym typeface="Proxima Nova Bold"/>
              </a:rPr>
              <a:t>Pembagian Data</a:t>
            </a:r>
          </a:p>
        </p:txBody>
      </p:sp>
      <p:sp>
        <p:nvSpPr>
          <p:cNvPr name="TextBox 17" id="17"/>
          <p:cNvSpPr txBox="true"/>
          <p:nvPr/>
        </p:nvSpPr>
        <p:spPr>
          <a:xfrm rot="0">
            <a:off x="9587423" y="2551099"/>
            <a:ext cx="5355909" cy="571982"/>
          </a:xfrm>
          <a:prstGeom prst="rect">
            <a:avLst/>
          </a:prstGeom>
        </p:spPr>
        <p:txBody>
          <a:bodyPr anchor="t" rtlCol="false" tIns="0" lIns="0" bIns="0" rIns="0">
            <a:spAutoFit/>
          </a:bodyPr>
          <a:lstStyle/>
          <a:p>
            <a:pPr algn="l">
              <a:lnSpc>
                <a:spcPts val="4701"/>
              </a:lnSpc>
            </a:pPr>
            <a:r>
              <a:rPr lang="en-US" sz="3357" spc="67" b="true">
                <a:solidFill>
                  <a:srgbClr val="0C586D"/>
                </a:solidFill>
                <a:latin typeface="Proxima Nova Bold"/>
                <a:ea typeface="Proxima Nova Bold"/>
                <a:cs typeface="Proxima Nova Bold"/>
                <a:sym typeface="Proxima Nova Bold"/>
              </a:rPr>
              <a:t>Model</a:t>
            </a:r>
          </a:p>
        </p:txBody>
      </p:sp>
      <p:sp>
        <p:nvSpPr>
          <p:cNvPr name="TextBox 18" id="18"/>
          <p:cNvSpPr txBox="true"/>
          <p:nvPr/>
        </p:nvSpPr>
        <p:spPr>
          <a:xfrm rot="0">
            <a:off x="9587423" y="3201896"/>
            <a:ext cx="8490064" cy="3442994"/>
          </a:xfrm>
          <a:prstGeom prst="rect">
            <a:avLst/>
          </a:prstGeom>
        </p:spPr>
        <p:txBody>
          <a:bodyPr anchor="t" rtlCol="false" tIns="0" lIns="0" bIns="0" rIns="0">
            <a:spAutoFit/>
          </a:bodyPr>
          <a:lstStyle/>
          <a:p>
            <a:pPr algn="just">
              <a:lnSpc>
                <a:spcPts val="3964"/>
              </a:lnSpc>
            </a:pPr>
            <a:r>
              <a:rPr lang="en-US" sz="2831" spc="84">
                <a:solidFill>
                  <a:srgbClr val="093A47"/>
                </a:solidFill>
                <a:latin typeface="Proxima Nova"/>
                <a:ea typeface="Proxima Nova"/>
                <a:cs typeface="Proxima Nova"/>
                <a:sym typeface="Proxima Nova"/>
              </a:rPr>
              <a:t>Model baseline: en_core_web_sm</a:t>
            </a:r>
          </a:p>
          <a:p>
            <a:pPr algn="just">
              <a:lnSpc>
                <a:spcPts val="3964"/>
              </a:lnSpc>
            </a:pPr>
            <a:r>
              <a:rPr lang="en-US" sz="2831" spc="84">
                <a:solidFill>
                  <a:srgbClr val="093A47"/>
                </a:solidFill>
                <a:latin typeface="Proxima Nova"/>
                <a:ea typeface="Proxima Nova"/>
                <a:cs typeface="Proxima Nova"/>
                <a:sym typeface="Proxima Nova"/>
              </a:rPr>
              <a:t>Model NLP dari spaCy yang digunakan untuk mengenali entitas dalam teks berbahasa Inggris. Model ini menjadi model awal sebelum dilakukan pelatihan menggunakan data artikel Maybank yang telah dianotasi.</a:t>
            </a:r>
          </a:p>
          <a:p>
            <a:pPr algn="l">
              <a:lnSpc>
                <a:spcPts val="3964"/>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DFA"/>
        </a:solidFill>
      </p:bgPr>
    </p:bg>
    <p:spTree>
      <p:nvGrpSpPr>
        <p:cNvPr id="1" name=""/>
        <p:cNvGrpSpPr/>
        <p:nvPr/>
      </p:nvGrpSpPr>
      <p:grpSpPr>
        <a:xfrm>
          <a:off x="0" y="0"/>
          <a:ext cx="0" cy="0"/>
          <a:chOff x="0" y="0"/>
          <a:chExt cx="0" cy="0"/>
        </a:xfrm>
      </p:grpSpPr>
      <p:sp>
        <p:nvSpPr>
          <p:cNvPr name="AutoShape 2" id="2"/>
          <p:cNvSpPr/>
          <p:nvPr/>
        </p:nvSpPr>
        <p:spPr>
          <a:xfrm>
            <a:off x="512213" y="9725816"/>
            <a:ext cx="17265685" cy="0"/>
          </a:xfrm>
          <a:prstGeom prst="line">
            <a:avLst/>
          </a:prstGeom>
          <a:ln cap="flat" w="38100">
            <a:solidFill>
              <a:srgbClr val="093A47"/>
            </a:solidFill>
            <a:prstDash val="solid"/>
            <a:headEnd type="none" len="sm" w="sm"/>
            <a:tailEnd type="none" len="sm" w="sm"/>
          </a:ln>
        </p:spPr>
      </p:sp>
      <p:sp>
        <p:nvSpPr>
          <p:cNvPr name="AutoShape 3" id="3"/>
          <p:cNvSpPr/>
          <p:nvPr/>
        </p:nvSpPr>
        <p:spPr>
          <a:xfrm>
            <a:off x="511157" y="1028700"/>
            <a:ext cx="17265685" cy="0"/>
          </a:xfrm>
          <a:prstGeom prst="line">
            <a:avLst/>
          </a:prstGeom>
          <a:ln cap="flat" w="38100">
            <a:solidFill>
              <a:srgbClr val="093A47"/>
            </a:solidFill>
            <a:prstDash val="solid"/>
            <a:headEnd type="none" len="sm" w="sm"/>
            <a:tailEnd type="none" len="sm" w="sm"/>
          </a:ln>
        </p:spPr>
      </p:sp>
      <p:sp>
        <p:nvSpPr>
          <p:cNvPr name="Freeform 4" id="4"/>
          <p:cNvSpPr/>
          <p:nvPr/>
        </p:nvSpPr>
        <p:spPr>
          <a:xfrm flipH="true" flipV="false" rot="0">
            <a:off x="17429517" y="9851717"/>
            <a:ext cx="293194" cy="293194"/>
          </a:xfrm>
          <a:custGeom>
            <a:avLst/>
            <a:gdLst/>
            <a:ahLst/>
            <a:cxnLst/>
            <a:rect r="r" b="b" t="t" l="l"/>
            <a:pathLst>
              <a:path h="293194" w="293194">
                <a:moveTo>
                  <a:pt x="293195" y="0"/>
                </a:moveTo>
                <a:lnTo>
                  <a:pt x="0" y="0"/>
                </a:lnTo>
                <a:lnTo>
                  <a:pt x="0" y="293194"/>
                </a:lnTo>
                <a:lnTo>
                  <a:pt x="293195" y="293194"/>
                </a:lnTo>
                <a:lnTo>
                  <a:pt x="29319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511157" y="359544"/>
            <a:ext cx="458544" cy="431031"/>
          </a:xfrm>
          <a:custGeom>
            <a:avLst/>
            <a:gdLst/>
            <a:ahLst/>
            <a:cxnLst/>
            <a:rect r="r" b="b" t="t" l="l"/>
            <a:pathLst>
              <a:path h="431031" w="458544">
                <a:moveTo>
                  <a:pt x="0" y="0"/>
                </a:moveTo>
                <a:lnTo>
                  <a:pt x="458545" y="0"/>
                </a:lnTo>
                <a:lnTo>
                  <a:pt x="458545" y="431031"/>
                </a:lnTo>
                <a:lnTo>
                  <a:pt x="0" y="4310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7345811" y="359544"/>
            <a:ext cx="431031" cy="43103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93A47"/>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940"/>
                </a:lnSpc>
              </a:pPr>
            </a:p>
          </p:txBody>
        </p:sp>
      </p:grpSp>
      <p:grpSp>
        <p:nvGrpSpPr>
          <p:cNvPr name="Group 9" id="9"/>
          <p:cNvGrpSpPr/>
          <p:nvPr/>
        </p:nvGrpSpPr>
        <p:grpSpPr>
          <a:xfrm rot="0">
            <a:off x="439924" y="3062826"/>
            <a:ext cx="881524" cy="1263127"/>
            <a:chOff x="0" y="0"/>
            <a:chExt cx="232171" cy="332675"/>
          </a:xfrm>
        </p:grpSpPr>
        <p:sp>
          <p:nvSpPr>
            <p:cNvPr name="Freeform 10" id="10"/>
            <p:cNvSpPr/>
            <p:nvPr/>
          </p:nvSpPr>
          <p:spPr>
            <a:xfrm flipH="false" flipV="false" rot="0">
              <a:off x="0" y="0"/>
              <a:ext cx="232171" cy="332675"/>
            </a:xfrm>
            <a:custGeom>
              <a:avLst/>
              <a:gdLst/>
              <a:ahLst/>
              <a:cxnLst/>
              <a:rect r="r" b="b" t="t" l="l"/>
              <a:pathLst>
                <a:path h="332675" w="232171">
                  <a:moveTo>
                    <a:pt x="0" y="0"/>
                  </a:moveTo>
                  <a:lnTo>
                    <a:pt x="232171" y="0"/>
                  </a:lnTo>
                  <a:lnTo>
                    <a:pt x="232171" y="332675"/>
                  </a:lnTo>
                  <a:lnTo>
                    <a:pt x="0" y="332675"/>
                  </a:lnTo>
                  <a:close/>
                </a:path>
              </a:pathLst>
            </a:custGeom>
            <a:solidFill>
              <a:srgbClr val="093A47"/>
            </a:solidFill>
          </p:spPr>
        </p:sp>
        <p:sp>
          <p:nvSpPr>
            <p:cNvPr name="TextBox 11" id="11"/>
            <p:cNvSpPr txBox="true"/>
            <p:nvPr/>
          </p:nvSpPr>
          <p:spPr>
            <a:xfrm>
              <a:off x="0" y="-38100"/>
              <a:ext cx="232171" cy="370775"/>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607125" y="2969814"/>
            <a:ext cx="6017688" cy="1356139"/>
            <a:chOff x="0" y="0"/>
            <a:chExt cx="1584906" cy="357172"/>
          </a:xfrm>
        </p:grpSpPr>
        <p:sp>
          <p:nvSpPr>
            <p:cNvPr name="Freeform 13" id="13"/>
            <p:cNvSpPr/>
            <p:nvPr/>
          </p:nvSpPr>
          <p:spPr>
            <a:xfrm flipH="false" flipV="false" rot="0">
              <a:off x="0" y="0"/>
              <a:ext cx="1584905" cy="357172"/>
            </a:xfrm>
            <a:custGeom>
              <a:avLst/>
              <a:gdLst/>
              <a:ahLst/>
              <a:cxnLst/>
              <a:rect r="r" b="b" t="t" l="l"/>
              <a:pathLst>
                <a:path h="357172" w="1584905">
                  <a:moveTo>
                    <a:pt x="0" y="0"/>
                  </a:moveTo>
                  <a:lnTo>
                    <a:pt x="1584905" y="0"/>
                  </a:lnTo>
                  <a:lnTo>
                    <a:pt x="1584905" y="357172"/>
                  </a:lnTo>
                  <a:lnTo>
                    <a:pt x="0" y="357172"/>
                  </a:lnTo>
                  <a:close/>
                </a:path>
              </a:pathLst>
            </a:custGeom>
            <a:solidFill>
              <a:srgbClr val="0C586D"/>
            </a:solidFill>
          </p:spPr>
        </p:sp>
        <p:sp>
          <p:nvSpPr>
            <p:cNvPr name="TextBox 14" id="14"/>
            <p:cNvSpPr txBox="true"/>
            <p:nvPr/>
          </p:nvSpPr>
          <p:spPr>
            <a:xfrm>
              <a:off x="0" y="-38100"/>
              <a:ext cx="1584906" cy="395272"/>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439924" y="6256059"/>
            <a:ext cx="881524" cy="1263127"/>
            <a:chOff x="0" y="0"/>
            <a:chExt cx="232171" cy="332675"/>
          </a:xfrm>
        </p:grpSpPr>
        <p:sp>
          <p:nvSpPr>
            <p:cNvPr name="Freeform 16" id="16"/>
            <p:cNvSpPr/>
            <p:nvPr/>
          </p:nvSpPr>
          <p:spPr>
            <a:xfrm flipH="false" flipV="false" rot="0">
              <a:off x="0" y="0"/>
              <a:ext cx="232171" cy="332675"/>
            </a:xfrm>
            <a:custGeom>
              <a:avLst/>
              <a:gdLst/>
              <a:ahLst/>
              <a:cxnLst/>
              <a:rect r="r" b="b" t="t" l="l"/>
              <a:pathLst>
                <a:path h="332675" w="232171">
                  <a:moveTo>
                    <a:pt x="0" y="0"/>
                  </a:moveTo>
                  <a:lnTo>
                    <a:pt x="232171" y="0"/>
                  </a:lnTo>
                  <a:lnTo>
                    <a:pt x="232171" y="332675"/>
                  </a:lnTo>
                  <a:lnTo>
                    <a:pt x="0" y="332675"/>
                  </a:lnTo>
                  <a:close/>
                </a:path>
              </a:pathLst>
            </a:custGeom>
            <a:solidFill>
              <a:srgbClr val="093A47"/>
            </a:solidFill>
          </p:spPr>
        </p:sp>
        <p:sp>
          <p:nvSpPr>
            <p:cNvPr name="TextBox 17" id="17"/>
            <p:cNvSpPr txBox="true"/>
            <p:nvPr/>
          </p:nvSpPr>
          <p:spPr>
            <a:xfrm>
              <a:off x="0" y="-38100"/>
              <a:ext cx="232171" cy="370775"/>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468425" y="7981413"/>
            <a:ext cx="881524" cy="1263127"/>
            <a:chOff x="0" y="0"/>
            <a:chExt cx="232171" cy="332675"/>
          </a:xfrm>
        </p:grpSpPr>
        <p:sp>
          <p:nvSpPr>
            <p:cNvPr name="Freeform 19" id="19"/>
            <p:cNvSpPr/>
            <p:nvPr/>
          </p:nvSpPr>
          <p:spPr>
            <a:xfrm flipH="false" flipV="false" rot="0">
              <a:off x="0" y="0"/>
              <a:ext cx="232171" cy="332675"/>
            </a:xfrm>
            <a:custGeom>
              <a:avLst/>
              <a:gdLst/>
              <a:ahLst/>
              <a:cxnLst/>
              <a:rect r="r" b="b" t="t" l="l"/>
              <a:pathLst>
                <a:path h="332675" w="232171">
                  <a:moveTo>
                    <a:pt x="0" y="0"/>
                  </a:moveTo>
                  <a:lnTo>
                    <a:pt x="232171" y="0"/>
                  </a:lnTo>
                  <a:lnTo>
                    <a:pt x="232171" y="332675"/>
                  </a:lnTo>
                  <a:lnTo>
                    <a:pt x="0" y="332675"/>
                  </a:lnTo>
                  <a:close/>
                </a:path>
              </a:pathLst>
            </a:custGeom>
            <a:solidFill>
              <a:srgbClr val="093A47"/>
            </a:solidFill>
          </p:spPr>
        </p:sp>
        <p:sp>
          <p:nvSpPr>
            <p:cNvPr name="TextBox 20" id="20"/>
            <p:cNvSpPr txBox="true"/>
            <p:nvPr/>
          </p:nvSpPr>
          <p:spPr>
            <a:xfrm>
              <a:off x="0" y="-38100"/>
              <a:ext cx="232171" cy="370775"/>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468425" y="4714354"/>
            <a:ext cx="881524" cy="1263127"/>
            <a:chOff x="0" y="0"/>
            <a:chExt cx="232171" cy="332675"/>
          </a:xfrm>
        </p:grpSpPr>
        <p:sp>
          <p:nvSpPr>
            <p:cNvPr name="Freeform 22" id="22"/>
            <p:cNvSpPr/>
            <p:nvPr/>
          </p:nvSpPr>
          <p:spPr>
            <a:xfrm flipH="false" flipV="false" rot="0">
              <a:off x="0" y="0"/>
              <a:ext cx="232171" cy="332675"/>
            </a:xfrm>
            <a:custGeom>
              <a:avLst/>
              <a:gdLst/>
              <a:ahLst/>
              <a:cxnLst/>
              <a:rect r="r" b="b" t="t" l="l"/>
              <a:pathLst>
                <a:path h="332675" w="232171">
                  <a:moveTo>
                    <a:pt x="0" y="0"/>
                  </a:moveTo>
                  <a:lnTo>
                    <a:pt x="232171" y="0"/>
                  </a:lnTo>
                  <a:lnTo>
                    <a:pt x="232171" y="332675"/>
                  </a:lnTo>
                  <a:lnTo>
                    <a:pt x="0" y="332675"/>
                  </a:lnTo>
                  <a:close/>
                </a:path>
              </a:pathLst>
            </a:custGeom>
            <a:solidFill>
              <a:srgbClr val="093A47"/>
            </a:solidFill>
          </p:spPr>
        </p:sp>
        <p:sp>
          <p:nvSpPr>
            <p:cNvPr name="TextBox 23" id="23"/>
            <p:cNvSpPr txBox="true"/>
            <p:nvPr/>
          </p:nvSpPr>
          <p:spPr>
            <a:xfrm>
              <a:off x="0" y="-38100"/>
              <a:ext cx="232171" cy="370775"/>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1607125" y="4682919"/>
            <a:ext cx="6017688" cy="1294561"/>
            <a:chOff x="0" y="0"/>
            <a:chExt cx="1584906" cy="340954"/>
          </a:xfrm>
        </p:grpSpPr>
        <p:sp>
          <p:nvSpPr>
            <p:cNvPr name="Freeform 25" id="25"/>
            <p:cNvSpPr/>
            <p:nvPr/>
          </p:nvSpPr>
          <p:spPr>
            <a:xfrm flipH="false" flipV="false" rot="0">
              <a:off x="0" y="0"/>
              <a:ext cx="1584905" cy="340954"/>
            </a:xfrm>
            <a:custGeom>
              <a:avLst/>
              <a:gdLst/>
              <a:ahLst/>
              <a:cxnLst/>
              <a:rect r="r" b="b" t="t" l="l"/>
              <a:pathLst>
                <a:path h="340954" w="1584905">
                  <a:moveTo>
                    <a:pt x="0" y="0"/>
                  </a:moveTo>
                  <a:lnTo>
                    <a:pt x="1584905" y="0"/>
                  </a:lnTo>
                  <a:lnTo>
                    <a:pt x="1584905" y="340954"/>
                  </a:lnTo>
                  <a:lnTo>
                    <a:pt x="0" y="340954"/>
                  </a:lnTo>
                  <a:close/>
                </a:path>
              </a:pathLst>
            </a:custGeom>
            <a:solidFill>
              <a:srgbClr val="0C586D"/>
            </a:solidFill>
          </p:spPr>
        </p:sp>
        <p:sp>
          <p:nvSpPr>
            <p:cNvPr name="TextBox 26" id="26"/>
            <p:cNvSpPr txBox="true"/>
            <p:nvPr/>
          </p:nvSpPr>
          <p:spPr>
            <a:xfrm>
              <a:off x="0" y="-38100"/>
              <a:ext cx="1584906" cy="379054"/>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1607125" y="6348955"/>
            <a:ext cx="6017688" cy="1356139"/>
            <a:chOff x="0" y="0"/>
            <a:chExt cx="1584906" cy="357172"/>
          </a:xfrm>
        </p:grpSpPr>
        <p:sp>
          <p:nvSpPr>
            <p:cNvPr name="Freeform 28" id="28"/>
            <p:cNvSpPr/>
            <p:nvPr/>
          </p:nvSpPr>
          <p:spPr>
            <a:xfrm flipH="false" flipV="false" rot="0">
              <a:off x="0" y="0"/>
              <a:ext cx="1584905" cy="357172"/>
            </a:xfrm>
            <a:custGeom>
              <a:avLst/>
              <a:gdLst/>
              <a:ahLst/>
              <a:cxnLst/>
              <a:rect r="r" b="b" t="t" l="l"/>
              <a:pathLst>
                <a:path h="357172" w="1584905">
                  <a:moveTo>
                    <a:pt x="0" y="0"/>
                  </a:moveTo>
                  <a:lnTo>
                    <a:pt x="1584905" y="0"/>
                  </a:lnTo>
                  <a:lnTo>
                    <a:pt x="1584905" y="357172"/>
                  </a:lnTo>
                  <a:lnTo>
                    <a:pt x="0" y="357172"/>
                  </a:lnTo>
                  <a:close/>
                </a:path>
              </a:pathLst>
            </a:custGeom>
            <a:solidFill>
              <a:srgbClr val="0C586D"/>
            </a:solidFill>
          </p:spPr>
        </p:sp>
        <p:sp>
          <p:nvSpPr>
            <p:cNvPr name="TextBox 29" id="29"/>
            <p:cNvSpPr txBox="true"/>
            <p:nvPr/>
          </p:nvSpPr>
          <p:spPr>
            <a:xfrm>
              <a:off x="0" y="-38100"/>
              <a:ext cx="1584906" cy="395272"/>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1607125" y="8076570"/>
            <a:ext cx="6017688" cy="1356139"/>
            <a:chOff x="0" y="0"/>
            <a:chExt cx="1584906" cy="357172"/>
          </a:xfrm>
        </p:grpSpPr>
        <p:sp>
          <p:nvSpPr>
            <p:cNvPr name="Freeform 31" id="31"/>
            <p:cNvSpPr/>
            <p:nvPr/>
          </p:nvSpPr>
          <p:spPr>
            <a:xfrm flipH="false" flipV="false" rot="0">
              <a:off x="0" y="0"/>
              <a:ext cx="1584905" cy="357172"/>
            </a:xfrm>
            <a:custGeom>
              <a:avLst/>
              <a:gdLst/>
              <a:ahLst/>
              <a:cxnLst/>
              <a:rect r="r" b="b" t="t" l="l"/>
              <a:pathLst>
                <a:path h="357172" w="1584905">
                  <a:moveTo>
                    <a:pt x="0" y="0"/>
                  </a:moveTo>
                  <a:lnTo>
                    <a:pt x="1584905" y="0"/>
                  </a:lnTo>
                  <a:lnTo>
                    <a:pt x="1584905" y="357172"/>
                  </a:lnTo>
                  <a:lnTo>
                    <a:pt x="0" y="357172"/>
                  </a:lnTo>
                  <a:close/>
                </a:path>
              </a:pathLst>
            </a:custGeom>
            <a:solidFill>
              <a:srgbClr val="0C586D"/>
            </a:solidFill>
          </p:spPr>
        </p:sp>
        <p:sp>
          <p:nvSpPr>
            <p:cNvPr name="TextBox 32" id="32"/>
            <p:cNvSpPr txBox="true"/>
            <p:nvPr/>
          </p:nvSpPr>
          <p:spPr>
            <a:xfrm>
              <a:off x="0" y="-38100"/>
              <a:ext cx="1584906" cy="395272"/>
            </a:xfrm>
            <a:prstGeom prst="rect">
              <a:avLst/>
            </a:prstGeom>
          </p:spPr>
          <p:txBody>
            <a:bodyPr anchor="ctr" rtlCol="false" tIns="50800" lIns="50800" bIns="50800" rIns="50800"/>
            <a:lstStyle/>
            <a:p>
              <a:pPr algn="ctr">
                <a:lnSpc>
                  <a:spcPts val="2659"/>
                </a:lnSpc>
              </a:pPr>
            </a:p>
          </p:txBody>
        </p:sp>
      </p:grpSp>
      <p:sp>
        <p:nvSpPr>
          <p:cNvPr name="Freeform 33" id="33"/>
          <p:cNvSpPr/>
          <p:nvPr/>
        </p:nvSpPr>
        <p:spPr>
          <a:xfrm flipH="false" flipV="false" rot="0">
            <a:off x="8903475" y="3034061"/>
            <a:ext cx="5249785" cy="2540992"/>
          </a:xfrm>
          <a:custGeom>
            <a:avLst/>
            <a:gdLst/>
            <a:ahLst/>
            <a:cxnLst/>
            <a:rect r="r" b="b" t="t" l="l"/>
            <a:pathLst>
              <a:path h="2540992" w="5249785">
                <a:moveTo>
                  <a:pt x="0" y="0"/>
                </a:moveTo>
                <a:lnTo>
                  <a:pt x="5249785" y="0"/>
                </a:lnTo>
                <a:lnTo>
                  <a:pt x="5249785" y="2540991"/>
                </a:lnTo>
                <a:lnTo>
                  <a:pt x="0" y="2540991"/>
                </a:lnTo>
                <a:lnTo>
                  <a:pt x="0" y="0"/>
                </a:lnTo>
                <a:close/>
              </a:path>
            </a:pathLst>
          </a:custGeom>
          <a:blipFill>
            <a:blip r:embed="rId6"/>
            <a:stretch>
              <a:fillRect l="0" t="0" r="0" b="0"/>
            </a:stretch>
          </a:blipFill>
        </p:spPr>
      </p:sp>
      <p:sp>
        <p:nvSpPr>
          <p:cNvPr name="TextBox 34" id="34"/>
          <p:cNvSpPr txBox="true"/>
          <p:nvPr/>
        </p:nvSpPr>
        <p:spPr>
          <a:xfrm rot="0">
            <a:off x="1017327" y="377873"/>
            <a:ext cx="1939146" cy="356210"/>
          </a:xfrm>
          <a:prstGeom prst="rect">
            <a:avLst/>
          </a:prstGeom>
        </p:spPr>
        <p:txBody>
          <a:bodyPr anchor="t" rtlCol="false" tIns="0" lIns="0" bIns="0" rIns="0">
            <a:spAutoFit/>
          </a:bodyPr>
          <a:lstStyle/>
          <a:p>
            <a:pPr algn="l">
              <a:lnSpc>
                <a:spcPts val="2940"/>
              </a:lnSpc>
            </a:pPr>
            <a:r>
              <a:rPr lang="en-US" sz="2100">
                <a:solidFill>
                  <a:srgbClr val="093A47"/>
                </a:solidFill>
                <a:latin typeface="Proxima Nova"/>
                <a:ea typeface="Proxima Nova"/>
                <a:cs typeface="Proxima Nova"/>
                <a:sym typeface="Proxima Nova"/>
              </a:rPr>
              <a:t>Data Science</a:t>
            </a:r>
          </a:p>
        </p:txBody>
      </p:sp>
      <p:sp>
        <p:nvSpPr>
          <p:cNvPr name="TextBox 35" id="35"/>
          <p:cNvSpPr txBox="true"/>
          <p:nvPr/>
        </p:nvSpPr>
        <p:spPr>
          <a:xfrm rot="0">
            <a:off x="13832455" y="377873"/>
            <a:ext cx="3465731" cy="356272"/>
          </a:xfrm>
          <a:prstGeom prst="rect">
            <a:avLst/>
          </a:prstGeom>
        </p:spPr>
        <p:txBody>
          <a:bodyPr anchor="t" rtlCol="false" tIns="0" lIns="0" bIns="0" rIns="0">
            <a:spAutoFit/>
          </a:bodyPr>
          <a:lstStyle/>
          <a:p>
            <a:pPr algn="r">
              <a:lnSpc>
                <a:spcPts val="2940"/>
              </a:lnSpc>
            </a:pPr>
            <a:r>
              <a:rPr lang="en-US" sz="2100">
                <a:solidFill>
                  <a:srgbClr val="093A47"/>
                </a:solidFill>
                <a:latin typeface="Proxima Nova"/>
                <a:ea typeface="Proxima Nova"/>
                <a:cs typeface="Proxima Nova"/>
                <a:sym typeface="Proxima Nova"/>
              </a:rPr>
              <a:t>Modern Tech Presentation</a:t>
            </a:r>
          </a:p>
        </p:txBody>
      </p:sp>
      <p:sp>
        <p:nvSpPr>
          <p:cNvPr name="TextBox 36" id="36"/>
          <p:cNvSpPr txBox="true"/>
          <p:nvPr/>
        </p:nvSpPr>
        <p:spPr>
          <a:xfrm rot="0">
            <a:off x="17399942" y="478460"/>
            <a:ext cx="322770" cy="231298"/>
          </a:xfrm>
          <a:prstGeom prst="rect">
            <a:avLst/>
          </a:prstGeom>
        </p:spPr>
        <p:txBody>
          <a:bodyPr anchor="t" rtlCol="false" tIns="0" lIns="0" bIns="0" rIns="0">
            <a:spAutoFit/>
          </a:bodyPr>
          <a:lstStyle/>
          <a:p>
            <a:pPr algn="ctr">
              <a:lnSpc>
                <a:spcPts val="1639"/>
              </a:lnSpc>
            </a:pPr>
            <a:r>
              <a:rPr lang="en-US" sz="1821">
                <a:solidFill>
                  <a:srgbClr val="FFFDFA"/>
                </a:solidFill>
                <a:latin typeface="Bebas Neue Cyrillic"/>
                <a:ea typeface="Bebas Neue Cyrillic"/>
                <a:cs typeface="Bebas Neue Cyrillic"/>
                <a:sym typeface="Bebas Neue Cyrillic"/>
              </a:rPr>
              <a:t>04</a:t>
            </a:r>
          </a:p>
        </p:txBody>
      </p:sp>
      <p:sp>
        <p:nvSpPr>
          <p:cNvPr name="TextBox 37" id="37"/>
          <p:cNvSpPr txBox="true"/>
          <p:nvPr/>
        </p:nvSpPr>
        <p:spPr>
          <a:xfrm rot="0">
            <a:off x="548863" y="3417629"/>
            <a:ext cx="663646" cy="505896"/>
          </a:xfrm>
          <a:prstGeom prst="rect">
            <a:avLst/>
          </a:prstGeom>
        </p:spPr>
        <p:txBody>
          <a:bodyPr anchor="t" rtlCol="false" tIns="0" lIns="0" bIns="0" rIns="0">
            <a:spAutoFit/>
          </a:bodyPr>
          <a:lstStyle/>
          <a:p>
            <a:pPr algn="ctr">
              <a:lnSpc>
                <a:spcPts val="4272"/>
              </a:lnSpc>
            </a:pPr>
            <a:r>
              <a:rPr lang="en-US" b="true" sz="3051">
                <a:solidFill>
                  <a:srgbClr val="FFFDFA"/>
                </a:solidFill>
                <a:latin typeface="Proxima Nova Heavy"/>
                <a:ea typeface="Proxima Nova Heavy"/>
                <a:cs typeface="Proxima Nova Heavy"/>
                <a:sym typeface="Proxima Nova Heavy"/>
              </a:rPr>
              <a:t>01</a:t>
            </a:r>
          </a:p>
        </p:txBody>
      </p:sp>
      <p:sp>
        <p:nvSpPr>
          <p:cNvPr name="TextBox 38" id="38"/>
          <p:cNvSpPr txBox="true"/>
          <p:nvPr/>
        </p:nvSpPr>
        <p:spPr>
          <a:xfrm rot="0">
            <a:off x="1938014" y="3106039"/>
            <a:ext cx="5686799" cy="923087"/>
          </a:xfrm>
          <a:prstGeom prst="rect">
            <a:avLst/>
          </a:prstGeom>
        </p:spPr>
        <p:txBody>
          <a:bodyPr anchor="t" rtlCol="false" tIns="0" lIns="0" bIns="0" rIns="0">
            <a:spAutoFit/>
          </a:bodyPr>
          <a:lstStyle/>
          <a:p>
            <a:pPr algn="l">
              <a:lnSpc>
                <a:spcPts val="3721"/>
              </a:lnSpc>
            </a:pPr>
            <a:r>
              <a:rPr lang="en-US" sz="2658" spc="53" b="true">
                <a:solidFill>
                  <a:srgbClr val="FFFDFA"/>
                </a:solidFill>
                <a:latin typeface="Proxima Nova Bold"/>
                <a:ea typeface="Proxima Nova Bold"/>
                <a:cs typeface="Proxima Nova Bold"/>
                <a:sym typeface="Proxima Nova Bold"/>
              </a:rPr>
              <a:t>Data Berlabel </a:t>
            </a:r>
            <a:r>
              <a:rPr lang="en-US" sz="2658" spc="53">
                <a:solidFill>
                  <a:srgbClr val="FFFDFA"/>
                </a:solidFill>
                <a:latin typeface="Proxima Nova"/>
                <a:ea typeface="Proxima Nova"/>
                <a:cs typeface="Proxima Nova"/>
                <a:sym typeface="Proxima Nova"/>
              </a:rPr>
              <a:t>(Teks artikel dan label entitas menjadi acuan pelatihan)</a:t>
            </a:r>
          </a:p>
        </p:txBody>
      </p:sp>
      <p:sp>
        <p:nvSpPr>
          <p:cNvPr name="TextBox 39" id="39"/>
          <p:cNvSpPr txBox="true"/>
          <p:nvPr/>
        </p:nvSpPr>
        <p:spPr>
          <a:xfrm rot="0">
            <a:off x="548863" y="6606130"/>
            <a:ext cx="663646" cy="505896"/>
          </a:xfrm>
          <a:prstGeom prst="rect">
            <a:avLst/>
          </a:prstGeom>
        </p:spPr>
        <p:txBody>
          <a:bodyPr anchor="t" rtlCol="false" tIns="0" lIns="0" bIns="0" rIns="0">
            <a:spAutoFit/>
          </a:bodyPr>
          <a:lstStyle/>
          <a:p>
            <a:pPr algn="ctr">
              <a:lnSpc>
                <a:spcPts val="4272"/>
              </a:lnSpc>
            </a:pPr>
            <a:r>
              <a:rPr lang="en-US" b="true" sz="3051">
                <a:solidFill>
                  <a:srgbClr val="FFFDFA"/>
                </a:solidFill>
                <a:latin typeface="Proxima Nova Heavy"/>
                <a:ea typeface="Proxima Nova Heavy"/>
                <a:cs typeface="Proxima Nova Heavy"/>
                <a:sym typeface="Proxima Nova Heavy"/>
              </a:rPr>
              <a:t>03</a:t>
            </a:r>
          </a:p>
        </p:txBody>
      </p:sp>
      <p:sp>
        <p:nvSpPr>
          <p:cNvPr name="TextBox 40" id="40"/>
          <p:cNvSpPr txBox="true"/>
          <p:nvPr/>
        </p:nvSpPr>
        <p:spPr>
          <a:xfrm rot="0">
            <a:off x="577364" y="8336216"/>
            <a:ext cx="663646" cy="505896"/>
          </a:xfrm>
          <a:prstGeom prst="rect">
            <a:avLst/>
          </a:prstGeom>
        </p:spPr>
        <p:txBody>
          <a:bodyPr anchor="t" rtlCol="false" tIns="0" lIns="0" bIns="0" rIns="0">
            <a:spAutoFit/>
          </a:bodyPr>
          <a:lstStyle/>
          <a:p>
            <a:pPr algn="ctr">
              <a:lnSpc>
                <a:spcPts val="4272"/>
              </a:lnSpc>
            </a:pPr>
            <a:r>
              <a:rPr lang="en-US" b="true" sz="3051">
                <a:solidFill>
                  <a:srgbClr val="FFFDFA"/>
                </a:solidFill>
                <a:latin typeface="Proxima Nova Heavy"/>
                <a:ea typeface="Proxima Nova Heavy"/>
                <a:cs typeface="Proxima Nova Heavy"/>
                <a:sym typeface="Proxima Nova Heavy"/>
              </a:rPr>
              <a:t>04</a:t>
            </a:r>
          </a:p>
        </p:txBody>
      </p:sp>
      <p:sp>
        <p:nvSpPr>
          <p:cNvPr name="TextBox 41" id="41"/>
          <p:cNvSpPr txBox="true"/>
          <p:nvPr/>
        </p:nvSpPr>
        <p:spPr>
          <a:xfrm rot="0">
            <a:off x="577364" y="5069157"/>
            <a:ext cx="663646" cy="505896"/>
          </a:xfrm>
          <a:prstGeom prst="rect">
            <a:avLst/>
          </a:prstGeom>
        </p:spPr>
        <p:txBody>
          <a:bodyPr anchor="t" rtlCol="false" tIns="0" lIns="0" bIns="0" rIns="0">
            <a:spAutoFit/>
          </a:bodyPr>
          <a:lstStyle/>
          <a:p>
            <a:pPr algn="ctr">
              <a:lnSpc>
                <a:spcPts val="4272"/>
              </a:lnSpc>
            </a:pPr>
            <a:r>
              <a:rPr lang="en-US" b="true" sz="3051">
                <a:solidFill>
                  <a:srgbClr val="FFFDFA"/>
                </a:solidFill>
                <a:latin typeface="Proxima Nova Heavy"/>
                <a:ea typeface="Proxima Nova Heavy"/>
                <a:cs typeface="Proxima Nova Heavy"/>
                <a:sym typeface="Proxima Nova Heavy"/>
              </a:rPr>
              <a:t>02</a:t>
            </a:r>
          </a:p>
        </p:txBody>
      </p:sp>
      <p:sp>
        <p:nvSpPr>
          <p:cNvPr name="TextBox 42" id="42"/>
          <p:cNvSpPr txBox="true"/>
          <p:nvPr/>
        </p:nvSpPr>
        <p:spPr>
          <a:xfrm rot="0">
            <a:off x="3067799" y="1413698"/>
            <a:ext cx="12152401" cy="906282"/>
          </a:xfrm>
          <a:prstGeom prst="rect">
            <a:avLst/>
          </a:prstGeom>
        </p:spPr>
        <p:txBody>
          <a:bodyPr anchor="t" rtlCol="false" tIns="0" lIns="0" bIns="0" rIns="0">
            <a:spAutoFit/>
          </a:bodyPr>
          <a:lstStyle/>
          <a:p>
            <a:pPr algn="ctr">
              <a:lnSpc>
                <a:spcPts val="6558"/>
              </a:lnSpc>
            </a:pPr>
            <a:r>
              <a:rPr lang="en-US" sz="7286">
                <a:solidFill>
                  <a:srgbClr val="093A47"/>
                </a:solidFill>
                <a:latin typeface="Bebas Neue Cyrillic"/>
                <a:ea typeface="Bebas Neue Cyrillic"/>
                <a:cs typeface="Bebas Neue Cyrillic"/>
                <a:sym typeface="Bebas Neue Cyrillic"/>
              </a:rPr>
              <a:t>PENANGANAN LOSS FUNCTION</a:t>
            </a:r>
          </a:p>
        </p:txBody>
      </p:sp>
      <p:sp>
        <p:nvSpPr>
          <p:cNvPr name="TextBox 43" id="43"/>
          <p:cNvSpPr txBox="true"/>
          <p:nvPr/>
        </p:nvSpPr>
        <p:spPr>
          <a:xfrm rot="0">
            <a:off x="439924" y="2236292"/>
            <a:ext cx="5355909" cy="555422"/>
          </a:xfrm>
          <a:prstGeom prst="rect">
            <a:avLst/>
          </a:prstGeom>
        </p:spPr>
        <p:txBody>
          <a:bodyPr anchor="t" rtlCol="false" tIns="0" lIns="0" bIns="0" rIns="0">
            <a:spAutoFit/>
          </a:bodyPr>
          <a:lstStyle/>
          <a:p>
            <a:pPr algn="l">
              <a:lnSpc>
                <a:spcPts val="4561"/>
              </a:lnSpc>
            </a:pPr>
            <a:r>
              <a:rPr lang="en-US" sz="3257" spc="65" b="true">
                <a:solidFill>
                  <a:srgbClr val="0C586D"/>
                </a:solidFill>
                <a:latin typeface="Proxima Nova Bold"/>
                <a:ea typeface="Proxima Nova Bold"/>
                <a:cs typeface="Proxima Nova Bold"/>
                <a:sym typeface="Proxima Nova Bold"/>
              </a:rPr>
              <a:t>ALUR PENANGANAN LOSS</a:t>
            </a:r>
          </a:p>
        </p:txBody>
      </p:sp>
      <p:sp>
        <p:nvSpPr>
          <p:cNvPr name="TextBox 44" id="44"/>
          <p:cNvSpPr txBox="true"/>
          <p:nvPr/>
        </p:nvSpPr>
        <p:spPr>
          <a:xfrm rot="0">
            <a:off x="1938014" y="4771948"/>
            <a:ext cx="5135491" cy="1190421"/>
          </a:xfrm>
          <a:prstGeom prst="rect">
            <a:avLst/>
          </a:prstGeom>
        </p:spPr>
        <p:txBody>
          <a:bodyPr anchor="t" rtlCol="false" tIns="0" lIns="0" bIns="0" rIns="0">
            <a:spAutoFit/>
          </a:bodyPr>
          <a:lstStyle/>
          <a:p>
            <a:pPr algn="l">
              <a:lnSpc>
                <a:spcPts val="3161"/>
              </a:lnSpc>
            </a:pPr>
            <a:r>
              <a:rPr lang="en-US" sz="2258" spc="45" b="true">
                <a:solidFill>
                  <a:srgbClr val="FFFDFA"/>
                </a:solidFill>
                <a:latin typeface="Proxima Nova Bold"/>
                <a:ea typeface="Proxima Nova Bold"/>
                <a:cs typeface="Proxima Nova Bold"/>
                <a:sym typeface="Proxima Nova Bold"/>
              </a:rPr>
              <a:t>Hitung Loss </a:t>
            </a:r>
            <a:r>
              <a:rPr lang="en-US" sz="2258" spc="45">
                <a:solidFill>
                  <a:srgbClr val="FFFDFA"/>
                </a:solidFill>
                <a:latin typeface="Proxima Nova"/>
                <a:ea typeface="Proxima Nova"/>
                <a:cs typeface="Proxima Nova"/>
                <a:sym typeface="Proxima Nova"/>
              </a:rPr>
              <a:t>(Model memprediksi entitas, Loss NER dihitung dari perbedaan prediksi dan anotasi)</a:t>
            </a:r>
          </a:p>
        </p:txBody>
      </p:sp>
      <p:sp>
        <p:nvSpPr>
          <p:cNvPr name="TextBox 45" id="45"/>
          <p:cNvSpPr txBox="true"/>
          <p:nvPr/>
        </p:nvSpPr>
        <p:spPr>
          <a:xfrm rot="0">
            <a:off x="1938014" y="6428331"/>
            <a:ext cx="5355909" cy="1245031"/>
          </a:xfrm>
          <a:prstGeom prst="rect">
            <a:avLst/>
          </a:prstGeom>
        </p:spPr>
        <p:txBody>
          <a:bodyPr anchor="t" rtlCol="false" tIns="0" lIns="0" bIns="0" rIns="0">
            <a:spAutoFit/>
          </a:bodyPr>
          <a:lstStyle/>
          <a:p>
            <a:pPr algn="l">
              <a:lnSpc>
                <a:spcPts val="3301"/>
              </a:lnSpc>
            </a:pPr>
            <a:r>
              <a:rPr lang="en-US" sz="2358" spc="47" b="true">
                <a:solidFill>
                  <a:srgbClr val="FFFDFA"/>
                </a:solidFill>
                <a:latin typeface="Proxima Nova Bold"/>
                <a:ea typeface="Proxima Nova Bold"/>
                <a:cs typeface="Proxima Nova Bold"/>
                <a:sym typeface="Proxima Nova Bold"/>
              </a:rPr>
              <a:t>Perbarui Model </a:t>
            </a:r>
            <a:r>
              <a:rPr lang="en-US" sz="2358" spc="47">
                <a:solidFill>
                  <a:srgbClr val="FFFDFA"/>
                </a:solidFill>
                <a:latin typeface="Proxima Nova"/>
                <a:ea typeface="Proxima Nova"/>
                <a:cs typeface="Proxima Nova"/>
                <a:sym typeface="Proxima Nova"/>
              </a:rPr>
              <a:t>(Optimizer memperbarui bobot model untuk mengurangi loss)</a:t>
            </a:r>
          </a:p>
        </p:txBody>
      </p:sp>
      <p:sp>
        <p:nvSpPr>
          <p:cNvPr name="TextBox 46" id="46"/>
          <p:cNvSpPr txBox="true"/>
          <p:nvPr/>
        </p:nvSpPr>
        <p:spPr>
          <a:xfrm rot="0">
            <a:off x="1986899" y="8225283"/>
            <a:ext cx="5355909" cy="1245031"/>
          </a:xfrm>
          <a:prstGeom prst="rect">
            <a:avLst/>
          </a:prstGeom>
        </p:spPr>
        <p:txBody>
          <a:bodyPr anchor="t" rtlCol="false" tIns="0" lIns="0" bIns="0" rIns="0">
            <a:spAutoFit/>
          </a:bodyPr>
          <a:lstStyle/>
          <a:p>
            <a:pPr algn="l">
              <a:lnSpc>
                <a:spcPts val="3301"/>
              </a:lnSpc>
            </a:pPr>
            <a:r>
              <a:rPr lang="en-US" sz="2358" spc="47" b="true">
                <a:solidFill>
                  <a:srgbClr val="FFFDFA"/>
                </a:solidFill>
                <a:latin typeface="Proxima Nova Bold"/>
                <a:ea typeface="Proxima Nova Bold"/>
                <a:cs typeface="Proxima Nova Bold"/>
                <a:sym typeface="Proxima Nova Bold"/>
              </a:rPr>
              <a:t>Selalu dipantau dan Evaluasi (</a:t>
            </a:r>
            <a:r>
              <a:rPr lang="en-US" sz="2358" spc="47">
                <a:solidFill>
                  <a:srgbClr val="FFFDFA"/>
                </a:solidFill>
                <a:latin typeface="Proxima Nova"/>
                <a:ea typeface="Proxima Nova"/>
                <a:cs typeface="Proxima Nova"/>
                <a:sym typeface="Proxima Nova"/>
              </a:rPr>
              <a:t>catat loss lalu nilai model dengan precision, Recall, dan F1-Score</a:t>
            </a:r>
            <a:r>
              <a:rPr lang="en-US" sz="2358" spc="47" b="true">
                <a:solidFill>
                  <a:srgbClr val="FFFDFA"/>
                </a:solidFill>
                <a:latin typeface="Proxima Nova Bold"/>
                <a:ea typeface="Proxima Nova Bold"/>
                <a:cs typeface="Proxima Nova Bold"/>
                <a:sym typeface="Proxima Nova Bold"/>
              </a:rPr>
              <a:t>)</a:t>
            </a:r>
          </a:p>
        </p:txBody>
      </p:sp>
      <p:sp>
        <p:nvSpPr>
          <p:cNvPr name="TextBox 47" id="47"/>
          <p:cNvSpPr txBox="true"/>
          <p:nvPr/>
        </p:nvSpPr>
        <p:spPr>
          <a:xfrm rot="0">
            <a:off x="8797351" y="2253332"/>
            <a:ext cx="5355909" cy="555422"/>
          </a:xfrm>
          <a:prstGeom prst="rect">
            <a:avLst/>
          </a:prstGeom>
        </p:spPr>
        <p:txBody>
          <a:bodyPr anchor="t" rtlCol="false" tIns="0" lIns="0" bIns="0" rIns="0">
            <a:spAutoFit/>
          </a:bodyPr>
          <a:lstStyle/>
          <a:p>
            <a:pPr algn="l">
              <a:lnSpc>
                <a:spcPts val="4561"/>
              </a:lnSpc>
            </a:pPr>
            <a:r>
              <a:rPr lang="en-US" sz="3257" spc="65" b="true">
                <a:solidFill>
                  <a:srgbClr val="0C586D"/>
                </a:solidFill>
                <a:latin typeface="Proxima Nova Bold"/>
                <a:ea typeface="Proxima Nova Bold"/>
                <a:cs typeface="Proxima Nova Bold"/>
                <a:sym typeface="Proxima Nova Bold"/>
              </a:rPr>
              <a:t>contoh di SPACY</a:t>
            </a:r>
          </a:p>
        </p:txBody>
      </p:sp>
      <p:sp>
        <p:nvSpPr>
          <p:cNvPr name="TextBox 48" id="48"/>
          <p:cNvSpPr txBox="true"/>
          <p:nvPr/>
        </p:nvSpPr>
        <p:spPr>
          <a:xfrm rot="0">
            <a:off x="8688407" y="6471603"/>
            <a:ext cx="5355909" cy="555422"/>
          </a:xfrm>
          <a:prstGeom prst="rect">
            <a:avLst/>
          </a:prstGeom>
        </p:spPr>
        <p:txBody>
          <a:bodyPr anchor="t" rtlCol="false" tIns="0" lIns="0" bIns="0" rIns="0">
            <a:spAutoFit/>
          </a:bodyPr>
          <a:lstStyle/>
          <a:p>
            <a:pPr algn="l">
              <a:lnSpc>
                <a:spcPts val="4561"/>
              </a:lnSpc>
            </a:pPr>
            <a:r>
              <a:rPr lang="en-US" sz="3257" spc="65" b="true">
                <a:solidFill>
                  <a:srgbClr val="0C586D"/>
                </a:solidFill>
                <a:latin typeface="Proxima Nova Bold"/>
                <a:ea typeface="Proxima Nova Bold"/>
                <a:cs typeface="Proxima Nova Bold"/>
                <a:sym typeface="Proxima Nova Bold"/>
              </a:rPr>
              <a:t>Cara Membaca LOSS</a:t>
            </a:r>
          </a:p>
        </p:txBody>
      </p:sp>
      <p:sp>
        <p:nvSpPr>
          <p:cNvPr name="TextBox 49" id="49"/>
          <p:cNvSpPr txBox="true"/>
          <p:nvPr/>
        </p:nvSpPr>
        <p:spPr>
          <a:xfrm rot="0">
            <a:off x="8688407" y="7098984"/>
            <a:ext cx="8534694" cy="2497723"/>
          </a:xfrm>
          <a:prstGeom prst="rect">
            <a:avLst/>
          </a:prstGeom>
        </p:spPr>
        <p:txBody>
          <a:bodyPr anchor="t" rtlCol="false" tIns="0" lIns="0" bIns="0" rIns="0">
            <a:spAutoFit/>
          </a:bodyPr>
          <a:lstStyle/>
          <a:p>
            <a:pPr algn="l" marL="516492" indent="-258246" lvl="1">
              <a:lnSpc>
                <a:spcPts val="3349"/>
              </a:lnSpc>
              <a:buFont typeface="Arial"/>
              <a:buChar char="•"/>
            </a:pPr>
            <a:r>
              <a:rPr lang="en-US" b="true" sz="2392" spc="47">
                <a:solidFill>
                  <a:srgbClr val="0C586D"/>
                </a:solidFill>
                <a:latin typeface="Proxima Nova Bold"/>
                <a:ea typeface="Proxima Nova Bold"/>
                <a:cs typeface="Proxima Nova Bold"/>
                <a:sym typeface="Proxima Nova Bold"/>
              </a:rPr>
              <a:t>Loss Menurun model kemarin menyesuwaikan diri dengan data latih</a:t>
            </a:r>
          </a:p>
          <a:p>
            <a:pPr algn="l" marL="516492" indent="-258246" lvl="1">
              <a:lnSpc>
                <a:spcPts val="3349"/>
              </a:lnSpc>
              <a:buFont typeface="Arial"/>
              <a:buChar char="•"/>
            </a:pPr>
            <a:r>
              <a:rPr lang="en-US" b="true" sz="2392" spc="47">
                <a:solidFill>
                  <a:srgbClr val="0C586D"/>
                </a:solidFill>
                <a:latin typeface="Proxima Nova Bold"/>
                <a:ea typeface="Proxima Nova Bold"/>
                <a:cs typeface="Proxima Nova Bold"/>
                <a:sym typeface="Proxima Nova Bold"/>
              </a:rPr>
              <a:t>Loss tidak menurun periksa data, anotasi danpenagturan pelatihan.</a:t>
            </a:r>
          </a:p>
          <a:p>
            <a:pPr algn="l" marL="516492" indent="-258246" lvl="1">
              <a:lnSpc>
                <a:spcPts val="3349"/>
              </a:lnSpc>
              <a:buFont typeface="Arial"/>
              <a:buChar char="•"/>
            </a:pPr>
            <a:r>
              <a:rPr lang="en-US" b="true" sz="2392" spc="47">
                <a:solidFill>
                  <a:srgbClr val="0C586D"/>
                </a:solidFill>
                <a:latin typeface="Proxima Nova Bold"/>
                <a:ea typeface="Proxima Nova Bold"/>
                <a:cs typeface="Proxima Nova Bold"/>
                <a:sym typeface="Proxima Nova Bold"/>
              </a:rPr>
              <a:t>Loss train naik tetapi validasi memburuk waspada overfitting</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DFA"/>
        </a:solidFill>
      </p:bgPr>
    </p:bg>
    <p:spTree>
      <p:nvGrpSpPr>
        <p:cNvPr id="1" name=""/>
        <p:cNvGrpSpPr/>
        <p:nvPr/>
      </p:nvGrpSpPr>
      <p:grpSpPr>
        <a:xfrm>
          <a:off x="0" y="0"/>
          <a:ext cx="0" cy="0"/>
          <a:chOff x="0" y="0"/>
          <a:chExt cx="0" cy="0"/>
        </a:xfrm>
      </p:grpSpPr>
      <p:sp>
        <p:nvSpPr>
          <p:cNvPr name="AutoShape 2" id="2"/>
          <p:cNvSpPr/>
          <p:nvPr/>
        </p:nvSpPr>
        <p:spPr>
          <a:xfrm>
            <a:off x="511157" y="9239250"/>
            <a:ext cx="17265685" cy="0"/>
          </a:xfrm>
          <a:prstGeom prst="line">
            <a:avLst/>
          </a:prstGeom>
          <a:ln cap="flat" w="38100">
            <a:solidFill>
              <a:srgbClr val="093A47"/>
            </a:solidFill>
            <a:prstDash val="solid"/>
            <a:headEnd type="none" len="sm" w="sm"/>
            <a:tailEnd type="none" len="sm" w="sm"/>
          </a:ln>
        </p:spPr>
      </p:sp>
      <p:sp>
        <p:nvSpPr>
          <p:cNvPr name="AutoShape 3" id="3"/>
          <p:cNvSpPr/>
          <p:nvPr/>
        </p:nvSpPr>
        <p:spPr>
          <a:xfrm>
            <a:off x="511157" y="1028700"/>
            <a:ext cx="17265685" cy="0"/>
          </a:xfrm>
          <a:prstGeom prst="line">
            <a:avLst/>
          </a:prstGeom>
          <a:ln cap="flat" w="38100">
            <a:solidFill>
              <a:srgbClr val="093A47"/>
            </a:solidFill>
            <a:prstDash val="solid"/>
            <a:headEnd type="none" len="sm" w="sm"/>
            <a:tailEnd type="none" len="sm" w="sm"/>
          </a:ln>
        </p:spPr>
      </p:sp>
      <p:sp>
        <p:nvSpPr>
          <p:cNvPr name="Freeform 4" id="4"/>
          <p:cNvSpPr/>
          <p:nvPr/>
        </p:nvSpPr>
        <p:spPr>
          <a:xfrm flipH="true" flipV="false" rot="0">
            <a:off x="17473987" y="9485033"/>
            <a:ext cx="302856" cy="302856"/>
          </a:xfrm>
          <a:custGeom>
            <a:avLst/>
            <a:gdLst/>
            <a:ahLst/>
            <a:cxnLst/>
            <a:rect r="r" b="b" t="t" l="l"/>
            <a:pathLst>
              <a:path h="302856" w="302856">
                <a:moveTo>
                  <a:pt x="302856" y="0"/>
                </a:moveTo>
                <a:lnTo>
                  <a:pt x="0" y="0"/>
                </a:lnTo>
                <a:lnTo>
                  <a:pt x="0" y="302856"/>
                </a:lnTo>
                <a:lnTo>
                  <a:pt x="302856" y="302856"/>
                </a:lnTo>
                <a:lnTo>
                  <a:pt x="30285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511157" y="359544"/>
            <a:ext cx="458544" cy="431031"/>
          </a:xfrm>
          <a:custGeom>
            <a:avLst/>
            <a:gdLst/>
            <a:ahLst/>
            <a:cxnLst/>
            <a:rect r="r" b="b" t="t" l="l"/>
            <a:pathLst>
              <a:path h="431031" w="458544">
                <a:moveTo>
                  <a:pt x="0" y="0"/>
                </a:moveTo>
                <a:lnTo>
                  <a:pt x="458545" y="0"/>
                </a:lnTo>
                <a:lnTo>
                  <a:pt x="458545" y="431031"/>
                </a:lnTo>
                <a:lnTo>
                  <a:pt x="0" y="4310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7345811" y="359544"/>
            <a:ext cx="431031" cy="43103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93A47"/>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940"/>
                </a:lnSpc>
              </a:pPr>
            </a:p>
          </p:txBody>
        </p:sp>
      </p:grpSp>
      <p:graphicFrame>
        <p:nvGraphicFramePr>
          <p:cNvPr name="Table 9" id="9"/>
          <p:cNvGraphicFramePr>
            <a:graphicFrameLocks noGrp="true"/>
          </p:cNvGraphicFramePr>
          <p:nvPr/>
        </p:nvGraphicFramePr>
        <p:xfrm>
          <a:off x="9944100" y="3273525"/>
          <a:ext cx="7315200" cy="4114800"/>
        </p:xfrm>
        <a:graphic>
          <a:graphicData uri="http://schemas.openxmlformats.org/drawingml/2006/table">
            <a:tbl>
              <a:tblPr/>
              <a:tblGrid>
                <a:gridCol w="2438400"/>
                <a:gridCol w="2438400"/>
                <a:gridCol w="2438400"/>
              </a:tblGrid>
              <a:tr h="1028700">
                <a:tc>
                  <a:txBody>
                    <a:bodyPr anchor="t" rtlCol="false"/>
                    <a:lstStyle/>
                    <a:p>
                      <a:pPr algn="ctr">
                        <a:lnSpc>
                          <a:spcPts val="2940"/>
                        </a:lnSpc>
                        <a:defRPr/>
                      </a:pPr>
                      <a:r>
                        <a:rPr lang="en-US" sz="2100" b="true">
                          <a:solidFill>
                            <a:srgbClr val="000000"/>
                          </a:solidFill>
                          <a:latin typeface="Proxima Nova Bold"/>
                          <a:ea typeface="Proxima Nova Bold"/>
                          <a:cs typeface="Proxima Nova Bold"/>
                          <a:sym typeface="Proxima Nova Bold"/>
                        </a:rPr>
                        <a:t>Matrik</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40"/>
                        </a:lnSpc>
                        <a:defRPr/>
                      </a:pPr>
                      <a:r>
                        <a:rPr lang="en-US" sz="2100" b="true">
                          <a:solidFill>
                            <a:srgbClr val="000000"/>
                          </a:solidFill>
                          <a:latin typeface="Proxima Nova Bold"/>
                          <a:ea typeface="Proxima Nova Bold"/>
                          <a:cs typeface="Proxima Nova Bold"/>
                          <a:sym typeface="Proxima Nova Bold"/>
                        </a:rPr>
                        <a:t>Baseline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40"/>
                        </a:lnSpc>
                        <a:defRPr/>
                      </a:pPr>
                      <a:r>
                        <a:rPr lang="en-US" sz="2100" b="true">
                          <a:solidFill>
                            <a:srgbClr val="000000"/>
                          </a:solidFill>
                          <a:latin typeface="Proxima Nova Bold"/>
                          <a:ea typeface="Proxima Nova Bold"/>
                          <a:cs typeface="Proxima Nova Bold"/>
                          <a:sym typeface="Proxima Nova Bold"/>
                        </a:rPr>
                        <a:t>Model Terlatih</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8700">
                <a:tc>
                  <a:txBody>
                    <a:bodyPr anchor="t" rtlCol="false"/>
                    <a:lstStyle/>
                    <a:p>
                      <a:pPr algn="ctr">
                        <a:lnSpc>
                          <a:spcPts val="2940"/>
                        </a:lnSpc>
                        <a:defRPr/>
                      </a:pPr>
                      <a:r>
                        <a:rPr lang="en-US" sz="2100">
                          <a:solidFill>
                            <a:srgbClr val="000000"/>
                          </a:solidFill>
                          <a:latin typeface="Proxima Nova"/>
                          <a:ea typeface="Proxima Nova"/>
                          <a:cs typeface="Proxima Nova"/>
                          <a:sym typeface="Proxima Nova"/>
                        </a:rPr>
                        <a:t>Precision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Proxima Nova"/>
                          <a:ea typeface="Proxima Nova"/>
                          <a:cs typeface="Proxima Nova"/>
                          <a:sym typeface="Proxima Nova"/>
                        </a:rPr>
                        <a:t>0,180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Proxima Nova"/>
                          <a:ea typeface="Proxima Nova"/>
                          <a:cs typeface="Proxima Nova"/>
                          <a:sym typeface="Proxima Nova"/>
                        </a:rPr>
                        <a:t>0,951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8700">
                <a:tc>
                  <a:txBody>
                    <a:bodyPr anchor="t" rtlCol="false"/>
                    <a:lstStyle/>
                    <a:p>
                      <a:pPr algn="ctr">
                        <a:lnSpc>
                          <a:spcPts val="2940"/>
                        </a:lnSpc>
                        <a:defRPr/>
                      </a:pPr>
                      <a:r>
                        <a:rPr lang="en-US" sz="2100">
                          <a:solidFill>
                            <a:srgbClr val="000000"/>
                          </a:solidFill>
                          <a:latin typeface="Proxima Nova"/>
                          <a:ea typeface="Proxima Nova"/>
                          <a:cs typeface="Proxima Nova"/>
                          <a:sym typeface="Proxima Nova"/>
                        </a:rPr>
                        <a:t>Recall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Proxima Nova"/>
                          <a:ea typeface="Proxima Nova"/>
                          <a:cs typeface="Proxima Nova"/>
                          <a:sym typeface="Proxima Nova"/>
                        </a:rPr>
                        <a:t>0,578</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Proxima Nova"/>
                          <a:ea typeface="Proxima Nova"/>
                          <a:cs typeface="Proxima Nova"/>
                          <a:sym typeface="Proxima Nova"/>
                        </a:rPr>
                        <a:t>0</a:t>
                      </a:r>
                      <a:r>
                        <a:rPr lang="en-US" sz="2100">
                          <a:solidFill>
                            <a:srgbClr val="000000"/>
                          </a:solidFill>
                          <a:latin typeface="Proxima Nova"/>
                          <a:ea typeface="Proxima Nova"/>
                          <a:cs typeface="Proxima Nova"/>
                          <a:sym typeface="Proxima Nova"/>
                        </a:rPr>
                        <a:t>,985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8700">
                <a:tc>
                  <a:txBody>
                    <a:bodyPr anchor="t" rtlCol="false"/>
                    <a:lstStyle/>
                    <a:p>
                      <a:pPr algn="ctr">
                        <a:lnSpc>
                          <a:spcPts val="2940"/>
                        </a:lnSpc>
                        <a:defRPr/>
                      </a:pPr>
                      <a:r>
                        <a:rPr lang="en-US" sz="2100">
                          <a:solidFill>
                            <a:srgbClr val="000000"/>
                          </a:solidFill>
                          <a:latin typeface="Proxima Nova"/>
                          <a:ea typeface="Proxima Nova"/>
                          <a:cs typeface="Proxima Nova"/>
                          <a:sym typeface="Proxima Nova"/>
                        </a:rPr>
                        <a:t>F1-Score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Proxima Nova"/>
                          <a:ea typeface="Proxima Nova"/>
                          <a:cs typeface="Proxima Nova"/>
                          <a:sym typeface="Proxima Nova"/>
                        </a:rPr>
                        <a:t>0,274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Proxima Nova"/>
                          <a:ea typeface="Proxima Nova"/>
                          <a:cs typeface="Proxima Nova"/>
                          <a:sym typeface="Proxima Nova"/>
                        </a:rPr>
                        <a:t>0,968</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10" id="10"/>
          <p:cNvSpPr txBox="true"/>
          <p:nvPr/>
        </p:nvSpPr>
        <p:spPr>
          <a:xfrm rot="0">
            <a:off x="1017327" y="377873"/>
            <a:ext cx="1939146" cy="356210"/>
          </a:xfrm>
          <a:prstGeom prst="rect">
            <a:avLst/>
          </a:prstGeom>
        </p:spPr>
        <p:txBody>
          <a:bodyPr anchor="t" rtlCol="false" tIns="0" lIns="0" bIns="0" rIns="0">
            <a:spAutoFit/>
          </a:bodyPr>
          <a:lstStyle/>
          <a:p>
            <a:pPr algn="l">
              <a:lnSpc>
                <a:spcPts val="2940"/>
              </a:lnSpc>
            </a:pPr>
            <a:r>
              <a:rPr lang="en-US" sz="2100">
                <a:solidFill>
                  <a:srgbClr val="093A47"/>
                </a:solidFill>
                <a:latin typeface="Proxima Nova"/>
                <a:ea typeface="Proxima Nova"/>
                <a:cs typeface="Proxima Nova"/>
                <a:sym typeface="Proxima Nova"/>
              </a:rPr>
              <a:t>Data Science</a:t>
            </a:r>
          </a:p>
        </p:txBody>
      </p:sp>
      <p:sp>
        <p:nvSpPr>
          <p:cNvPr name="TextBox 11" id="11"/>
          <p:cNvSpPr txBox="true"/>
          <p:nvPr/>
        </p:nvSpPr>
        <p:spPr>
          <a:xfrm rot="0">
            <a:off x="13832455" y="377873"/>
            <a:ext cx="3465731" cy="356272"/>
          </a:xfrm>
          <a:prstGeom prst="rect">
            <a:avLst/>
          </a:prstGeom>
        </p:spPr>
        <p:txBody>
          <a:bodyPr anchor="t" rtlCol="false" tIns="0" lIns="0" bIns="0" rIns="0">
            <a:spAutoFit/>
          </a:bodyPr>
          <a:lstStyle/>
          <a:p>
            <a:pPr algn="r">
              <a:lnSpc>
                <a:spcPts val="2940"/>
              </a:lnSpc>
            </a:pPr>
            <a:r>
              <a:rPr lang="en-US" sz="2100">
                <a:solidFill>
                  <a:srgbClr val="093A47"/>
                </a:solidFill>
                <a:latin typeface="Proxima Nova"/>
                <a:ea typeface="Proxima Nova"/>
                <a:cs typeface="Proxima Nova"/>
                <a:sym typeface="Proxima Nova"/>
              </a:rPr>
              <a:t>Modern Tech Presentation</a:t>
            </a:r>
          </a:p>
        </p:txBody>
      </p:sp>
      <p:sp>
        <p:nvSpPr>
          <p:cNvPr name="TextBox 12" id="12"/>
          <p:cNvSpPr txBox="true"/>
          <p:nvPr/>
        </p:nvSpPr>
        <p:spPr>
          <a:xfrm rot="0">
            <a:off x="17399942" y="478460"/>
            <a:ext cx="322770" cy="231298"/>
          </a:xfrm>
          <a:prstGeom prst="rect">
            <a:avLst/>
          </a:prstGeom>
        </p:spPr>
        <p:txBody>
          <a:bodyPr anchor="t" rtlCol="false" tIns="0" lIns="0" bIns="0" rIns="0">
            <a:spAutoFit/>
          </a:bodyPr>
          <a:lstStyle/>
          <a:p>
            <a:pPr algn="ctr">
              <a:lnSpc>
                <a:spcPts val="1639"/>
              </a:lnSpc>
            </a:pPr>
            <a:r>
              <a:rPr lang="en-US" sz="1821">
                <a:solidFill>
                  <a:srgbClr val="FFFDFA"/>
                </a:solidFill>
                <a:latin typeface="Bebas Neue Cyrillic"/>
                <a:ea typeface="Bebas Neue Cyrillic"/>
                <a:cs typeface="Bebas Neue Cyrillic"/>
                <a:sym typeface="Bebas Neue Cyrillic"/>
              </a:rPr>
              <a:t>06</a:t>
            </a:r>
          </a:p>
        </p:txBody>
      </p:sp>
      <p:sp>
        <p:nvSpPr>
          <p:cNvPr name="TextBox 13" id="13"/>
          <p:cNvSpPr txBox="true"/>
          <p:nvPr/>
        </p:nvSpPr>
        <p:spPr>
          <a:xfrm rot="0">
            <a:off x="1083559" y="1471897"/>
            <a:ext cx="5496181" cy="1052533"/>
          </a:xfrm>
          <a:prstGeom prst="rect">
            <a:avLst/>
          </a:prstGeom>
        </p:spPr>
        <p:txBody>
          <a:bodyPr anchor="t" rtlCol="false" tIns="0" lIns="0" bIns="0" rIns="0">
            <a:spAutoFit/>
          </a:bodyPr>
          <a:lstStyle/>
          <a:p>
            <a:pPr algn="l">
              <a:lnSpc>
                <a:spcPts val="7548"/>
              </a:lnSpc>
            </a:pPr>
            <a:r>
              <a:rPr lang="en-US" sz="8386">
                <a:solidFill>
                  <a:srgbClr val="093A47"/>
                </a:solidFill>
                <a:latin typeface="Bebas Neue Cyrillic"/>
                <a:ea typeface="Bebas Neue Cyrillic"/>
                <a:cs typeface="Bebas Neue Cyrillic"/>
                <a:sym typeface="Bebas Neue Cyrillic"/>
              </a:rPr>
              <a:t>evaluasi model</a:t>
            </a:r>
          </a:p>
        </p:txBody>
      </p:sp>
      <p:sp>
        <p:nvSpPr>
          <p:cNvPr name="TextBox 14" id="14"/>
          <p:cNvSpPr txBox="true"/>
          <p:nvPr/>
        </p:nvSpPr>
        <p:spPr>
          <a:xfrm rot="0">
            <a:off x="511157" y="4139716"/>
            <a:ext cx="751737" cy="644419"/>
          </a:xfrm>
          <a:prstGeom prst="rect">
            <a:avLst/>
          </a:prstGeom>
        </p:spPr>
        <p:txBody>
          <a:bodyPr anchor="t" rtlCol="false" tIns="0" lIns="0" bIns="0" rIns="0">
            <a:spAutoFit/>
          </a:bodyPr>
          <a:lstStyle/>
          <a:p>
            <a:pPr algn="ctr">
              <a:lnSpc>
                <a:spcPts val="4648"/>
              </a:lnSpc>
            </a:pPr>
            <a:r>
              <a:rPr lang="en-US" sz="5164">
                <a:solidFill>
                  <a:srgbClr val="FFFDFA"/>
                </a:solidFill>
                <a:latin typeface="Bebas Neue Cyrillic"/>
                <a:ea typeface="Bebas Neue Cyrillic"/>
                <a:cs typeface="Bebas Neue Cyrillic"/>
                <a:sym typeface="Bebas Neue Cyrillic"/>
              </a:rPr>
              <a:t>01.</a:t>
            </a:r>
          </a:p>
        </p:txBody>
      </p:sp>
      <p:sp>
        <p:nvSpPr>
          <p:cNvPr name="TextBox 15" id="15"/>
          <p:cNvSpPr txBox="true"/>
          <p:nvPr/>
        </p:nvSpPr>
        <p:spPr>
          <a:xfrm rot="0">
            <a:off x="5618453" y="4150103"/>
            <a:ext cx="751737" cy="644419"/>
          </a:xfrm>
          <a:prstGeom prst="rect">
            <a:avLst/>
          </a:prstGeom>
        </p:spPr>
        <p:txBody>
          <a:bodyPr anchor="t" rtlCol="false" tIns="0" lIns="0" bIns="0" rIns="0">
            <a:spAutoFit/>
          </a:bodyPr>
          <a:lstStyle/>
          <a:p>
            <a:pPr algn="ctr">
              <a:lnSpc>
                <a:spcPts val="4648"/>
              </a:lnSpc>
            </a:pPr>
            <a:r>
              <a:rPr lang="en-US" sz="5164">
                <a:solidFill>
                  <a:srgbClr val="FFFDFA"/>
                </a:solidFill>
                <a:latin typeface="Bebas Neue Cyrillic"/>
                <a:ea typeface="Bebas Neue Cyrillic"/>
                <a:cs typeface="Bebas Neue Cyrillic"/>
                <a:sym typeface="Bebas Neue Cyrillic"/>
              </a:rPr>
              <a:t>02.</a:t>
            </a:r>
          </a:p>
        </p:txBody>
      </p:sp>
      <p:sp>
        <p:nvSpPr>
          <p:cNvPr name="TextBox 16" id="16"/>
          <p:cNvSpPr txBox="true"/>
          <p:nvPr/>
        </p:nvSpPr>
        <p:spPr>
          <a:xfrm rot="0">
            <a:off x="1472445" y="4576531"/>
            <a:ext cx="3581822" cy="1470689"/>
          </a:xfrm>
          <a:prstGeom prst="rect">
            <a:avLst/>
          </a:prstGeom>
        </p:spPr>
        <p:txBody>
          <a:bodyPr anchor="t" rtlCol="false" tIns="0" lIns="0" bIns="0" rIns="0">
            <a:spAutoFit/>
          </a:bodyPr>
          <a:lstStyle/>
          <a:p>
            <a:pPr algn="l">
              <a:lnSpc>
                <a:spcPts val="2946"/>
              </a:lnSpc>
            </a:pPr>
            <a:r>
              <a:rPr lang="en-US" sz="2104" spc="63">
                <a:solidFill>
                  <a:srgbClr val="FFFDFA"/>
                </a:solidFill>
                <a:latin typeface="Proxima Nova"/>
                <a:ea typeface="Proxima Nova"/>
                <a:cs typeface="Proxima Nova"/>
                <a:sym typeface="Proxima Nova"/>
              </a:rPr>
              <a:t>Lorem ipsum dolor sit amet, consectetur adipiscing elit. Etiam condimentum vel neque et pretium. </a:t>
            </a:r>
          </a:p>
        </p:txBody>
      </p:sp>
      <p:sp>
        <p:nvSpPr>
          <p:cNvPr name="TextBox 17" id="17"/>
          <p:cNvSpPr txBox="true"/>
          <p:nvPr/>
        </p:nvSpPr>
        <p:spPr>
          <a:xfrm rot="0">
            <a:off x="1472445" y="4021055"/>
            <a:ext cx="3772294" cy="448942"/>
          </a:xfrm>
          <a:prstGeom prst="rect">
            <a:avLst/>
          </a:prstGeom>
        </p:spPr>
        <p:txBody>
          <a:bodyPr anchor="t" rtlCol="false" tIns="0" lIns="0" bIns="0" rIns="0">
            <a:spAutoFit/>
          </a:bodyPr>
          <a:lstStyle/>
          <a:p>
            <a:pPr algn="l">
              <a:lnSpc>
                <a:spcPts val="3609"/>
              </a:lnSpc>
            </a:pPr>
            <a:r>
              <a:rPr lang="en-US" b="true" sz="2578" spc="51">
                <a:solidFill>
                  <a:srgbClr val="FFFDFA"/>
                </a:solidFill>
                <a:latin typeface="Proxima Nova Bold"/>
                <a:ea typeface="Proxima Nova Bold"/>
                <a:cs typeface="Proxima Nova Bold"/>
                <a:sym typeface="Proxima Nova Bold"/>
              </a:rPr>
              <a:t>Process Automation</a:t>
            </a:r>
          </a:p>
        </p:txBody>
      </p:sp>
      <p:sp>
        <p:nvSpPr>
          <p:cNvPr name="TextBox 18" id="18"/>
          <p:cNvSpPr txBox="true"/>
          <p:nvPr/>
        </p:nvSpPr>
        <p:spPr>
          <a:xfrm rot="0">
            <a:off x="969702" y="6091224"/>
            <a:ext cx="3772294" cy="448841"/>
          </a:xfrm>
          <a:prstGeom prst="rect">
            <a:avLst/>
          </a:prstGeom>
        </p:spPr>
        <p:txBody>
          <a:bodyPr anchor="t" rtlCol="false" tIns="0" lIns="0" bIns="0" rIns="0">
            <a:spAutoFit/>
          </a:bodyPr>
          <a:lstStyle/>
          <a:p>
            <a:pPr algn="l">
              <a:lnSpc>
                <a:spcPts val="3609"/>
              </a:lnSpc>
            </a:pPr>
            <a:r>
              <a:rPr lang="en-US" sz="2578" spc="51" b="true">
                <a:solidFill>
                  <a:srgbClr val="0C586D"/>
                </a:solidFill>
                <a:latin typeface="Proxima Nova Bold"/>
                <a:ea typeface="Proxima Nova Bold"/>
                <a:cs typeface="Proxima Nova Bold"/>
                <a:sym typeface="Proxima Nova Bold"/>
              </a:rPr>
              <a:t>Analisis Evaluasi</a:t>
            </a:r>
          </a:p>
        </p:txBody>
      </p:sp>
      <p:sp>
        <p:nvSpPr>
          <p:cNvPr name="TextBox 19" id="19"/>
          <p:cNvSpPr txBox="true"/>
          <p:nvPr/>
        </p:nvSpPr>
        <p:spPr>
          <a:xfrm rot="0">
            <a:off x="1028700" y="6695004"/>
            <a:ext cx="4965621" cy="2213815"/>
          </a:xfrm>
          <a:prstGeom prst="rect">
            <a:avLst/>
          </a:prstGeom>
        </p:spPr>
        <p:txBody>
          <a:bodyPr anchor="t" rtlCol="false" tIns="0" lIns="0" bIns="0" rIns="0">
            <a:spAutoFit/>
          </a:bodyPr>
          <a:lstStyle/>
          <a:p>
            <a:pPr algn="just" marL="454407" indent="-227203" lvl="1">
              <a:lnSpc>
                <a:spcPts val="2946"/>
              </a:lnSpc>
              <a:buAutoNum type="arabicPeriod" startAt="1"/>
            </a:pPr>
            <a:r>
              <a:rPr lang="en-US" sz="2104" spc="63">
                <a:solidFill>
                  <a:srgbClr val="0C586D"/>
                </a:solidFill>
                <a:latin typeface="Proxima Nova"/>
                <a:ea typeface="Proxima Nova"/>
                <a:cs typeface="Proxima Nova"/>
                <a:sym typeface="Proxima Nova"/>
              </a:rPr>
              <a:t>Membandingkan baseline dengan model terlatih.</a:t>
            </a:r>
          </a:p>
          <a:p>
            <a:pPr algn="just" marL="454407" indent="-227203" lvl="1">
              <a:lnSpc>
                <a:spcPts val="2946"/>
              </a:lnSpc>
              <a:buAutoNum type="arabicPeriod" startAt="1"/>
            </a:pPr>
            <a:r>
              <a:rPr lang="en-US" sz="2104" spc="63">
                <a:solidFill>
                  <a:srgbClr val="0C586D"/>
                </a:solidFill>
                <a:latin typeface="Proxima Nova"/>
                <a:ea typeface="Proxima Nova"/>
                <a:cs typeface="Proxima Nova"/>
                <a:sym typeface="Proxima Nova"/>
              </a:rPr>
              <a:t>Mengukur kinerja setiap kategori entitas..</a:t>
            </a:r>
          </a:p>
          <a:p>
            <a:pPr algn="just" marL="454407" indent="-227203" lvl="1">
              <a:lnSpc>
                <a:spcPts val="2946"/>
              </a:lnSpc>
              <a:buAutoNum type="arabicPeriod" startAt="1"/>
            </a:pPr>
            <a:r>
              <a:rPr lang="en-US" sz="2104" spc="63">
                <a:solidFill>
                  <a:srgbClr val="0C586D"/>
                </a:solidFill>
                <a:latin typeface="Proxima Nova"/>
                <a:ea typeface="Proxima Nova"/>
                <a:cs typeface="Proxima Nova"/>
                <a:sym typeface="Proxima Nova"/>
              </a:rPr>
              <a:t>Menganalisis minimal 3 kesalahan prediksi pada data uji.</a:t>
            </a:r>
          </a:p>
        </p:txBody>
      </p:sp>
      <p:sp>
        <p:nvSpPr>
          <p:cNvPr name="TextBox 20" id="20"/>
          <p:cNvSpPr txBox="true"/>
          <p:nvPr/>
        </p:nvSpPr>
        <p:spPr>
          <a:xfrm rot="0">
            <a:off x="1017327" y="2591105"/>
            <a:ext cx="7828959" cy="2956873"/>
          </a:xfrm>
          <a:prstGeom prst="rect">
            <a:avLst/>
          </a:prstGeom>
        </p:spPr>
        <p:txBody>
          <a:bodyPr anchor="t" rtlCol="false" tIns="0" lIns="0" bIns="0" rIns="0">
            <a:spAutoFit/>
          </a:bodyPr>
          <a:lstStyle/>
          <a:p>
            <a:pPr algn="just">
              <a:lnSpc>
                <a:spcPts val="2946"/>
              </a:lnSpc>
            </a:pPr>
            <a:r>
              <a:rPr lang="en-US" sz="2104" spc="63">
                <a:solidFill>
                  <a:srgbClr val="0C586D"/>
                </a:solidFill>
                <a:latin typeface="Proxima Nova"/>
                <a:ea typeface="Proxima Nova"/>
                <a:cs typeface="Proxima Nova"/>
                <a:sym typeface="Proxima Nova"/>
              </a:rPr>
              <a:t>Kin</a:t>
            </a:r>
            <a:r>
              <a:rPr lang="en-US" sz="2104" spc="63">
                <a:solidFill>
                  <a:srgbClr val="0C586D"/>
                </a:solidFill>
                <a:latin typeface="Proxima Nova"/>
                <a:ea typeface="Proxima Nova"/>
                <a:cs typeface="Proxima Nova"/>
                <a:sym typeface="Proxima Nova"/>
              </a:rPr>
              <a:t>erja model diukur dengan membandingkan prediksi terhadap anotasi acuan menggunakan metrik berikut:</a:t>
            </a:r>
          </a:p>
          <a:p>
            <a:pPr algn="l" marL="454407" indent="-227203" lvl="1">
              <a:lnSpc>
                <a:spcPts val="2946"/>
              </a:lnSpc>
              <a:buAutoNum type="arabicPeriod" startAt="1"/>
            </a:pPr>
            <a:r>
              <a:rPr lang="en-US" sz="2104" spc="63">
                <a:solidFill>
                  <a:srgbClr val="0C586D"/>
                </a:solidFill>
                <a:latin typeface="Proxima Nova"/>
                <a:ea typeface="Proxima Nova"/>
                <a:cs typeface="Proxima Nova"/>
                <a:sym typeface="Proxima Nova"/>
              </a:rPr>
              <a:t>Precision - digunakan untuk mengukur ketepatan entitas yang diprediksi.</a:t>
            </a:r>
          </a:p>
          <a:p>
            <a:pPr algn="l" marL="454407" indent="-227203" lvl="1">
              <a:lnSpc>
                <a:spcPts val="2946"/>
              </a:lnSpc>
              <a:buAutoNum type="arabicPeriod" startAt="1"/>
            </a:pPr>
            <a:r>
              <a:rPr lang="en-US" sz="2104" spc="63">
                <a:solidFill>
                  <a:srgbClr val="0C586D"/>
                </a:solidFill>
                <a:latin typeface="Proxima Nova"/>
                <a:ea typeface="Proxima Nova"/>
                <a:cs typeface="Proxima Nova"/>
                <a:sym typeface="Proxima Nova"/>
              </a:rPr>
              <a:t>Recall - digunakan untuk mengukur seberapa banyak entitas acuan berhasil ditemukan.</a:t>
            </a:r>
          </a:p>
          <a:p>
            <a:pPr algn="l" marL="454407" indent="-227203" lvl="1">
              <a:lnSpc>
                <a:spcPts val="2946"/>
              </a:lnSpc>
              <a:buAutoNum type="arabicPeriod" startAt="1"/>
            </a:pPr>
            <a:r>
              <a:rPr lang="en-US" sz="2104" spc="63">
                <a:solidFill>
                  <a:srgbClr val="0C586D"/>
                </a:solidFill>
                <a:latin typeface="Proxima Nova"/>
                <a:ea typeface="Proxima Nova"/>
                <a:cs typeface="Proxima Nova"/>
                <a:sym typeface="Proxima Nova"/>
              </a:rPr>
              <a:t>F1 Score - digunakan untuk mengukur keseimbangan antara precision dan recall.</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DFA"/>
        </a:solidFill>
      </p:bgPr>
    </p:bg>
    <p:spTree>
      <p:nvGrpSpPr>
        <p:cNvPr id="1" name=""/>
        <p:cNvGrpSpPr/>
        <p:nvPr/>
      </p:nvGrpSpPr>
      <p:grpSpPr>
        <a:xfrm>
          <a:off x="0" y="0"/>
          <a:ext cx="0" cy="0"/>
          <a:chOff x="0" y="0"/>
          <a:chExt cx="0" cy="0"/>
        </a:xfrm>
      </p:grpSpPr>
      <p:sp>
        <p:nvSpPr>
          <p:cNvPr name="AutoShape 2" id="2"/>
          <p:cNvSpPr/>
          <p:nvPr/>
        </p:nvSpPr>
        <p:spPr>
          <a:xfrm>
            <a:off x="511157" y="9239250"/>
            <a:ext cx="17265685" cy="0"/>
          </a:xfrm>
          <a:prstGeom prst="line">
            <a:avLst/>
          </a:prstGeom>
          <a:ln cap="flat" w="38100">
            <a:solidFill>
              <a:srgbClr val="093A47"/>
            </a:solidFill>
            <a:prstDash val="solid"/>
            <a:headEnd type="none" len="sm" w="sm"/>
            <a:tailEnd type="none" len="sm" w="sm"/>
          </a:ln>
        </p:spPr>
      </p:sp>
      <p:sp>
        <p:nvSpPr>
          <p:cNvPr name="AutoShape 3" id="3"/>
          <p:cNvSpPr/>
          <p:nvPr/>
        </p:nvSpPr>
        <p:spPr>
          <a:xfrm>
            <a:off x="511157" y="1028700"/>
            <a:ext cx="17265685" cy="0"/>
          </a:xfrm>
          <a:prstGeom prst="line">
            <a:avLst/>
          </a:prstGeom>
          <a:ln cap="flat" w="38100">
            <a:solidFill>
              <a:srgbClr val="093A47"/>
            </a:solidFill>
            <a:prstDash val="solid"/>
            <a:headEnd type="none" len="sm" w="sm"/>
            <a:tailEnd type="none" len="sm" w="sm"/>
          </a:ln>
        </p:spPr>
      </p:sp>
      <p:sp>
        <p:nvSpPr>
          <p:cNvPr name="Freeform 4" id="4"/>
          <p:cNvSpPr/>
          <p:nvPr/>
        </p:nvSpPr>
        <p:spPr>
          <a:xfrm flipH="true" flipV="false" rot="0">
            <a:off x="17473987" y="9485033"/>
            <a:ext cx="302856" cy="302856"/>
          </a:xfrm>
          <a:custGeom>
            <a:avLst/>
            <a:gdLst/>
            <a:ahLst/>
            <a:cxnLst/>
            <a:rect r="r" b="b" t="t" l="l"/>
            <a:pathLst>
              <a:path h="302856" w="302856">
                <a:moveTo>
                  <a:pt x="302856" y="0"/>
                </a:moveTo>
                <a:lnTo>
                  <a:pt x="0" y="0"/>
                </a:lnTo>
                <a:lnTo>
                  <a:pt x="0" y="302856"/>
                </a:lnTo>
                <a:lnTo>
                  <a:pt x="302856" y="302856"/>
                </a:lnTo>
                <a:lnTo>
                  <a:pt x="30285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511157" y="359544"/>
            <a:ext cx="458544" cy="431031"/>
          </a:xfrm>
          <a:custGeom>
            <a:avLst/>
            <a:gdLst/>
            <a:ahLst/>
            <a:cxnLst/>
            <a:rect r="r" b="b" t="t" l="l"/>
            <a:pathLst>
              <a:path h="431031" w="458544">
                <a:moveTo>
                  <a:pt x="0" y="0"/>
                </a:moveTo>
                <a:lnTo>
                  <a:pt x="458545" y="0"/>
                </a:lnTo>
                <a:lnTo>
                  <a:pt x="458545" y="431031"/>
                </a:lnTo>
                <a:lnTo>
                  <a:pt x="0" y="4310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7345811" y="359544"/>
            <a:ext cx="431031" cy="43103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93A47"/>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940"/>
                </a:lnSpc>
              </a:pPr>
            </a:p>
          </p:txBody>
        </p:sp>
      </p:grpSp>
      <p:sp>
        <p:nvSpPr>
          <p:cNvPr name="Freeform 9" id="9"/>
          <p:cNvSpPr/>
          <p:nvPr/>
        </p:nvSpPr>
        <p:spPr>
          <a:xfrm flipH="false" flipV="false" rot="0">
            <a:off x="740430" y="3669473"/>
            <a:ext cx="8941384" cy="5102886"/>
          </a:xfrm>
          <a:custGeom>
            <a:avLst/>
            <a:gdLst/>
            <a:ahLst/>
            <a:cxnLst/>
            <a:rect r="r" b="b" t="t" l="l"/>
            <a:pathLst>
              <a:path h="5102886" w="8941384">
                <a:moveTo>
                  <a:pt x="0" y="0"/>
                </a:moveTo>
                <a:lnTo>
                  <a:pt x="8941383" y="0"/>
                </a:lnTo>
                <a:lnTo>
                  <a:pt x="8941383" y="5102886"/>
                </a:lnTo>
                <a:lnTo>
                  <a:pt x="0" y="5102886"/>
                </a:lnTo>
                <a:lnTo>
                  <a:pt x="0" y="0"/>
                </a:lnTo>
                <a:close/>
              </a:path>
            </a:pathLst>
          </a:custGeom>
          <a:blipFill>
            <a:blip r:embed="rId6"/>
            <a:stretch>
              <a:fillRect l="0" t="0" r="0" b="0"/>
            </a:stretch>
          </a:blipFill>
        </p:spPr>
      </p:sp>
      <p:sp>
        <p:nvSpPr>
          <p:cNvPr name="TextBox 10" id="10"/>
          <p:cNvSpPr txBox="true"/>
          <p:nvPr/>
        </p:nvSpPr>
        <p:spPr>
          <a:xfrm rot="0">
            <a:off x="1017327" y="377873"/>
            <a:ext cx="1939146" cy="356210"/>
          </a:xfrm>
          <a:prstGeom prst="rect">
            <a:avLst/>
          </a:prstGeom>
        </p:spPr>
        <p:txBody>
          <a:bodyPr anchor="t" rtlCol="false" tIns="0" lIns="0" bIns="0" rIns="0">
            <a:spAutoFit/>
          </a:bodyPr>
          <a:lstStyle/>
          <a:p>
            <a:pPr algn="l">
              <a:lnSpc>
                <a:spcPts val="2940"/>
              </a:lnSpc>
            </a:pPr>
            <a:r>
              <a:rPr lang="en-US" sz="2100">
                <a:solidFill>
                  <a:srgbClr val="093A47"/>
                </a:solidFill>
                <a:latin typeface="Proxima Nova"/>
                <a:ea typeface="Proxima Nova"/>
                <a:cs typeface="Proxima Nova"/>
                <a:sym typeface="Proxima Nova"/>
              </a:rPr>
              <a:t>Data Science</a:t>
            </a:r>
          </a:p>
        </p:txBody>
      </p:sp>
      <p:sp>
        <p:nvSpPr>
          <p:cNvPr name="TextBox 11" id="11"/>
          <p:cNvSpPr txBox="true"/>
          <p:nvPr/>
        </p:nvSpPr>
        <p:spPr>
          <a:xfrm rot="0">
            <a:off x="13832455" y="377873"/>
            <a:ext cx="3465731" cy="356272"/>
          </a:xfrm>
          <a:prstGeom prst="rect">
            <a:avLst/>
          </a:prstGeom>
        </p:spPr>
        <p:txBody>
          <a:bodyPr anchor="t" rtlCol="false" tIns="0" lIns="0" bIns="0" rIns="0">
            <a:spAutoFit/>
          </a:bodyPr>
          <a:lstStyle/>
          <a:p>
            <a:pPr algn="r">
              <a:lnSpc>
                <a:spcPts val="2940"/>
              </a:lnSpc>
            </a:pPr>
            <a:r>
              <a:rPr lang="en-US" sz="2100">
                <a:solidFill>
                  <a:srgbClr val="093A47"/>
                </a:solidFill>
                <a:latin typeface="Proxima Nova"/>
                <a:ea typeface="Proxima Nova"/>
                <a:cs typeface="Proxima Nova"/>
                <a:sym typeface="Proxima Nova"/>
              </a:rPr>
              <a:t>Modern Tech Presentation</a:t>
            </a:r>
          </a:p>
        </p:txBody>
      </p:sp>
      <p:sp>
        <p:nvSpPr>
          <p:cNvPr name="TextBox 12" id="12"/>
          <p:cNvSpPr txBox="true"/>
          <p:nvPr/>
        </p:nvSpPr>
        <p:spPr>
          <a:xfrm rot="0">
            <a:off x="17399942" y="478460"/>
            <a:ext cx="322770" cy="231298"/>
          </a:xfrm>
          <a:prstGeom prst="rect">
            <a:avLst/>
          </a:prstGeom>
        </p:spPr>
        <p:txBody>
          <a:bodyPr anchor="t" rtlCol="false" tIns="0" lIns="0" bIns="0" rIns="0">
            <a:spAutoFit/>
          </a:bodyPr>
          <a:lstStyle/>
          <a:p>
            <a:pPr algn="ctr">
              <a:lnSpc>
                <a:spcPts val="1639"/>
              </a:lnSpc>
            </a:pPr>
            <a:r>
              <a:rPr lang="en-US" sz="1821">
                <a:solidFill>
                  <a:srgbClr val="FFFDFA"/>
                </a:solidFill>
                <a:latin typeface="Bebas Neue Cyrillic"/>
                <a:ea typeface="Bebas Neue Cyrillic"/>
                <a:cs typeface="Bebas Neue Cyrillic"/>
                <a:sym typeface="Bebas Neue Cyrillic"/>
              </a:rPr>
              <a:t>07</a:t>
            </a:r>
          </a:p>
        </p:txBody>
      </p:sp>
      <p:sp>
        <p:nvSpPr>
          <p:cNvPr name="TextBox 13" id="13"/>
          <p:cNvSpPr txBox="true"/>
          <p:nvPr/>
        </p:nvSpPr>
        <p:spPr>
          <a:xfrm rot="0">
            <a:off x="533677" y="1619734"/>
            <a:ext cx="10388098" cy="1052601"/>
          </a:xfrm>
          <a:prstGeom prst="rect">
            <a:avLst/>
          </a:prstGeom>
        </p:spPr>
        <p:txBody>
          <a:bodyPr anchor="t" rtlCol="false" tIns="0" lIns="0" bIns="0" rIns="0">
            <a:spAutoFit/>
          </a:bodyPr>
          <a:lstStyle/>
          <a:p>
            <a:pPr algn="l">
              <a:lnSpc>
                <a:spcPts val="7548"/>
              </a:lnSpc>
            </a:pPr>
            <a:r>
              <a:rPr lang="en-US" sz="8386">
                <a:solidFill>
                  <a:srgbClr val="093A47"/>
                </a:solidFill>
                <a:latin typeface="Bebas Neue Cyrillic"/>
                <a:ea typeface="Bebas Neue Cyrillic"/>
                <a:cs typeface="Bebas Neue Cyrillic"/>
                <a:sym typeface="Bebas Neue Cyrillic"/>
              </a:rPr>
              <a:t>implementasi layanan web</a:t>
            </a:r>
          </a:p>
        </p:txBody>
      </p:sp>
      <p:sp>
        <p:nvSpPr>
          <p:cNvPr name="TextBox 14" id="14"/>
          <p:cNvSpPr txBox="true"/>
          <p:nvPr/>
        </p:nvSpPr>
        <p:spPr>
          <a:xfrm rot="0">
            <a:off x="969702" y="2533966"/>
            <a:ext cx="7740688" cy="754507"/>
          </a:xfrm>
          <a:prstGeom prst="rect">
            <a:avLst/>
          </a:prstGeom>
        </p:spPr>
        <p:txBody>
          <a:bodyPr anchor="t" rtlCol="false" tIns="0" lIns="0" bIns="0" rIns="0">
            <a:spAutoFit/>
          </a:bodyPr>
          <a:lstStyle/>
          <a:p>
            <a:pPr algn="just">
              <a:lnSpc>
                <a:spcPts val="3037"/>
              </a:lnSpc>
            </a:pPr>
            <a:r>
              <a:rPr lang="en-US" sz="2169" spc="65">
                <a:solidFill>
                  <a:srgbClr val="093A47"/>
                </a:solidFill>
                <a:latin typeface="Proxima Nova"/>
                <a:ea typeface="Proxima Nova"/>
                <a:cs typeface="Proxima Nova"/>
                <a:sym typeface="Proxima Nova"/>
              </a:rPr>
              <a:t>Layanan web digunakan sebagai antarmuka bagi pengguna untuk menjalankan model NER.</a:t>
            </a:r>
          </a:p>
        </p:txBody>
      </p:sp>
      <p:sp>
        <p:nvSpPr>
          <p:cNvPr name="TextBox 15" id="15"/>
          <p:cNvSpPr txBox="true"/>
          <p:nvPr/>
        </p:nvSpPr>
        <p:spPr>
          <a:xfrm rot="0">
            <a:off x="10425251" y="4046259"/>
            <a:ext cx="3931129" cy="456416"/>
          </a:xfrm>
          <a:prstGeom prst="rect">
            <a:avLst/>
          </a:prstGeom>
        </p:spPr>
        <p:txBody>
          <a:bodyPr anchor="t" rtlCol="false" tIns="0" lIns="0" bIns="0" rIns="0">
            <a:spAutoFit/>
          </a:bodyPr>
          <a:lstStyle/>
          <a:p>
            <a:pPr algn="l">
              <a:lnSpc>
                <a:spcPts val="3721"/>
              </a:lnSpc>
            </a:pPr>
            <a:r>
              <a:rPr lang="en-US" sz="2658" spc="53" b="true">
                <a:solidFill>
                  <a:srgbClr val="093A47"/>
                </a:solidFill>
                <a:latin typeface="Proxima Nova Bold"/>
                <a:ea typeface="Proxima Nova Bold"/>
                <a:cs typeface="Proxima Nova Bold"/>
                <a:sym typeface="Proxima Nova Bold"/>
              </a:rPr>
              <a:t>Alur Sistem</a:t>
            </a:r>
          </a:p>
        </p:txBody>
      </p:sp>
      <p:sp>
        <p:nvSpPr>
          <p:cNvPr name="TextBox 16" id="16"/>
          <p:cNvSpPr txBox="true"/>
          <p:nvPr/>
        </p:nvSpPr>
        <p:spPr>
          <a:xfrm rot="0">
            <a:off x="10425251" y="4778047"/>
            <a:ext cx="7441766" cy="3040507"/>
          </a:xfrm>
          <a:prstGeom prst="rect">
            <a:avLst/>
          </a:prstGeom>
        </p:spPr>
        <p:txBody>
          <a:bodyPr anchor="t" rtlCol="false" tIns="0" lIns="0" bIns="0" rIns="0">
            <a:spAutoFit/>
          </a:bodyPr>
          <a:lstStyle/>
          <a:p>
            <a:pPr algn="l" marL="468502" indent="-234251" lvl="1">
              <a:lnSpc>
                <a:spcPts val="3037"/>
              </a:lnSpc>
              <a:buAutoNum type="arabicPeriod" startAt="1"/>
            </a:pPr>
            <a:r>
              <a:rPr lang="en-US" sz="2169" spc="65">
                <a:solidFill>
                  <a:srgbClr val="093A47"/>
                </a:solidFill>
                <a:latin typeface="Proxima Nova"/>
                <a:ea typeface="Proxima Nova"/>
                <a:cs typeface="Proxima Nova"/>
                <a:sym typeface="Proxima Nova"/>
              </a:rPr>
              <a:t>Pengguna memasukkan judul dan isi artikel.</a:t>
            </a:r>
          </a:p>
          <a:p>
            <a:pPr algn="l" marL="468502" indent="-234251" lvl="1">
              <a:lnSpc>
                <a:spcPts val="3037"/>
              </a:lnSpc>
              <a:buAutoNum type="arabicPeriod" startAt="1"/>
            </a:pPr>
            <a:r>
              <a:rPr lang="en-US" sz="2169" spc="65">
                <a:solidFill>
                  <a:srgbClr val="093A47"/>
                </a:solidFill>
                <a:latin typeface="Proxima Nova"/>
                <a:ea typeface="Proxima Nova"/>
                <a:cs typeface="Proxima Nova"/>
                <a:sym typeface="Proxima Nova"/>
              </a:rPr>
              <a:t>Website mengirimkan data ke backend API.</a:t>
            </a:r>
          </a:p>
          <a:p>
            <a:pPr algn="l" marL="468502" indent="-234251" lvl="1">
              <a:lnSpc>
                <a:spcPts val="3037"/>
              </a:lnSpc>
              <a:buAutoNum type="arabicPeriod" startAt="1"/>
            </a:pPr>
            <a:r>
              <a:rPr lang="en-US" sz="2169" spc="65">
                <a:solidFill>
                  <a:srgbClr val="093A47"/>
                </a:solidFill>
                <a:latin typeface="Proxima Nova"/>
                <a:ea typeface="Proxima Nova"/>
                <a:cs typeface="Proxima Nova"/>
                <a:sym typeface="Proxima Nova"/>
              </a:rPr>
              <a:t>Backend memvalidasi input dan menjalankan model NER.</a:t>
            </a:r>
          </a:p>
          <a:p>
            <a:pPr algn="l" marL="468502" indent="-234251" lvl="1">
              <a:lnSpc>
                <a:spcPts val="3037"/>
              </a:lnSpc>
              <a:buAutoNum type="arabicPeriod" startAt="1"/>
            </a:pPr>
            <a:r>
              <a:rPr lang="en-US" sz="2169" spc="65">
                <a:solidFill>
                  <a:srgbClr val="093A47"/>
                </a:solidFill>
                <a:latin typeface="Proxima Nova"/>
                <a:ea typeface="Proxima Nova"/>
                <a:cs typeface="Proxima Nova"/>
                <a:sym typeface="Proxima Nova"/>
              </a:rPr>
              <a:t>Model mengidentifikasi entitas beserta kategorinya.</a:t>
            </a:r>
          </a:p>
          <a:p>
            <a:pPr algn="l" marL="468502" indent="-234251" lvl="1">
              <a:lnSpc>
                <a:spcPts val="3037"/>
              </a:lnSpc>
              <a:buAutoNum type="arabicPeriod" startAt="1"/>
            </a:pPr>
            <a:r>
              <a:rPr lang="en-US" sz="2169" spc="65">
                <a:solidFill>
                  <a:srgbClr val="093A47"/>
                </a:solidFill>
                <a:latin typeface="Proxima Nova"/>
                <a:ea typeface="Proxima Nova"/>
                <a:cs typeface="Proxima Nova"/>
                <a:sym typeface="Proxima Nova"/>
              </a:rPr>
              <a:t>Backend mengembalikan hasil dalam format JSON.</a:t>
            </a:r>
          </a:p>
          <a:p>
            <a:pPr algn="just" marL="468502" indent="-234251" lvl="1">
              <a:lnSpc>
                <a:spcPts val="3037"/>
              </a:lnSpc>
              <a:buAutoNum type="arabicPeriod" startAt="1"/>
            </a:pPr>
            <a:r>
              <a:rPr lang="en-US" sz="2169" spc="65">
                <a:solidFill>
                  <a:srgbClr val="093A47"/>
                </a:solidFill>
                <a:latin typeface="Proxima Nova"/>
                <a:ea typeface="Proxima Nova"/>
                <a:cs typeface="Proxima Nova"/>
                <a:sym typeface="Proxima Nova"/>
              </a:rPr>
              <a:t>Website menampilkan hasil kepada pengguna.</a:t>
            </a:r>
          </a:p>
          <a:p>
            <a:pPr algn="l">
              <a:lnSpc>
                <a:spcPts val="3037"/>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DFA"/>
        </a:solidFill>
      </p:bgPr>
    </p:bg>
    <p:spTree>
      <p:nvGrpSpPr>
        <p:cNvPr id="1" name=""/>
        <p:cNvGrpSpPr/>
        <p:nvPr/>
      </p:nvGrpSpPr>
      <p:grpSpPr>
        <a:xfrm>
          <a:off x="0" y="0"/>
          <a:ext cx="0" cy="0"/>
          <a:chOff x="0" y="0"/>
          <a:chExt cx="0" cy="0"/>
        </a:xfrm>
      </p:grpSpPr>
      <p:sp>
        <p:nvSpPr>
          <p:cNvPr name="AutoShape 2" id="2"/>
          <p:cNvSpPr/>
          <p:nvPr/>
        </p:nvSpPr>
        <p:spPr>
          <a:xfrm>
            <a:off x="511157" y="9645703"/>
            <a:ext cx="10261063" cy="0"/>
          </a:xfrm>
          <a:prstGeom prst="line">
            <a:avLst/>
          </a:prstGeom>
          <a:ln cap="flat" w="38100">
            <a:solidFill>
              <a:srgbClr val="093A47"/>
            </a:solidFill>
            <a:prstDash val="solid"/>
            <a:headEnd type="none" len="sm" w="sm"/>
            <a:tailEnd type="none" len="sm" w="sm"/>
          </a:ln>
        </p:spPr>
      </p:sp>
      <p:sp>
        <p:nvSpPr>
          <p:cNvPr name="AutoShape 3" id="3"/>
          <p:cNvSpPr/>
          <p:nvPr/>
        </p:nvSpPr>
        <p:spPr>
          <a:xfrm>
            <a:off x="511157" y="1028700"/>
            <a:ext cx="10261063" cy="0"/>
          </a:xfrm>
          <a:prstGeom prst="line">
            <a:avLst/>
          </a:prstGeom>
          <a:ln cap="flat" w="38100">
            <a:solidFill>
              <a:srgbClr val="093A47"/>
            </a:solidFill>
            <a:prstDash val="solid"/>
            <a:headEnd type="none" len="sm" w="sm"/>
            <a:tailEnd type="none" len="sm" w="sm"/>
          </a:ln>
        </p:spPr>
      </p:sp>
      <p:sp>
        <p:nvSpPr>
          <p:cNvPr name="Freeform 4" id="4"/>
          <p:cNvSpPr/>
          <p:nvPr/>
        </p:nvSpPr>
        <p:spPr>
          <a:xfrm flipH="true" flipV="false" rot="0">
            <a:off x="10172726" y="9816181"/>
            <a:ext cx="302856" cy="302856"/>
          </a:xfrm>
          <a:custGeom>
            <a:avLst/>
            <a:gdLst/>
            <a:ahLst/>
            <a:cxnLst/>
            <a:rect r="r" b="b" t="t" l="l"/>
            <a:pathLst>
              <a:path h="302856" w="302856">
                <a:moveTo>
                  <a:pt x="302856" y="0"/>
                </a:moveTo>
                <a:lnTo>
                  <a:pt x="0" y="0"/>
                </a:lnTo>
                <a:lnTo>
                  <a:pt x="0" y="302855"/>
                </a:lnTo>
                <a:lnTo>
                  <a:pt x="302856" y="302855"/>
                </a:lnTo>
                <a:lnTo>
                  <a:pt x="30285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511157" y="359544"/>
            <a:ext cx="458544" cy="431031"/>
          </a:xfrm>
          <a:custGeom>
            <a:avLst/>
            <a:gdLst/>
            <a:ahLst/>
            <a:cxnLst/>
            <a:rect r="r" b="b" t="t" l="l"/>
            <a:pathLst>
              <a:path h="431031" w="458544">
                <a:moveTo>
                  <a:pt x="0" y="0"/>
                </a:moveTo>
                <a:lnTo>
                  <a:pt x="458545" y="0"/>
                </a:lnTo>
                <a:lnTo>
                  <a:pt x="458545" y="431031"/>
                </a:lnTo>
                <a:lnTo>
                  <a:pt x="0" y="4310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1017327" y="377873"/>
            <a:ext cx="1939146" cy="356210"/>
          </a:xfrm>
          <a:prstGeom prst="rect">
            <a:avLst/>
          </a:prstGeom>
        </p:spPr>
        <p:txBody>
          <a:bodyPr anchor="t" rtlCol="false" tIns="0" lIns="0" bIns="0" rIns="0">
            <a:spAutoFit/>
          </a:bodyPr>
          <a:lstStyle/>
          <a:p>
            <a:pPr algn="l">
              <a:lnSpc>
                <a:spcPts val="2940"/>
              </a:lnSpc>
            </a:pPr>
            <a:r>
              <a:rPr lang="en-US" sz="2100">
                <a:solidFill>
                  <a:srgbClr val="093A47"/>
                </a:solidFill>
                <a:latin typeface="Proxima Nova"/>
                <a:ea typeface="Proxima Nova"/>
                <a:cs typeface="Proxima Nova"/>
                <a:sym typeface="Proxima Nova"/>
              </a:rPr>
              <a:t>Data Science</a:t>
            </a:r>
          </a:p>
        </p:txBody>
      </p:sp>
      <p:grpSp>
        <p:nvGrpSpPr>
          <p:cNvPr name="Group 7" id="7"/>
          <p:cNvGrpSpPr/>
          <p:nvPr/>
        </p:nvGrpSpPr>
        <p:grpSpPr>
          <a:xfrm rot="0">
            <a:off x="6531194" y="359544"/>
            <a:ext cx="3944388" cy="431031"/>
            <a:chOff x="0" y="0"/>
            <a:chExt cx="5259183" cy="574709"/>
          </a:xfrm>
        </p:grpSpPr>
        <p:grpSp>
          <p:nvGrpSpPr>
            <p:cNvPr name="Group 8" id="8"/>
            <p:cNvGrpSpPr/>
            <p:nvPr/>
          </p:nvGrpSpPr>
          <p:grpSpPr>
            <a:xfrm rot="0">
              <a:off x="4684475" y="0"/>
              <a:ext cx="574709" cy="574709"/>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93A47"/>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940"/>
                  </a:lnSpc>
                </a:pPr>
              </a:p>
            </p:txBody>
          </p:sp>
        </p:grpSp>
        <p:sp>
          <p:nvSpPr>
            <p:cNvPr name="TextBox 11" id="11"/>
            <p:cNvSpPr txBox="true"/>
            <p:nvPr/>
          </p:nvSpPr>
          <p:spPr>
            <a:xfrm rot="0">
              <a:off x="0" y="37140"/>
              <a:ext cx="4620975" cy="462330"/>
            </a:xfrm>
            <a:prstGeom prst="rect">
              <a:avLst/>
            </a:prstGeom>
          </p:spPr>
          <p:txBody>
            <a:bodyPr anchor="t" rtlCol="false" tIns="0" lIns="0" bIns="0" rIns="0">
              <a:spAutoFit/>
            </a:bodyPr>
            <a:lstStyle/>
            <a:p>
              <a:pPr algn="r">
                <a:lnSpc>
                  <a:spcPts val="2940"/>
                </a:lnSpc>
              </a:pPr>
              <a:r>
                <a:rPr lang="en-US" sz="2100">
                  <a:solidFill>
                    <a:srgbClr val="093A47"/>
                  </a:solidFill>
                  <a:latin typeface="Proxima Nova"/>
                  <a:ea typeface="Proxima Nova"/>
                  <a:cs typeface="Proxima Nova"/>
                  <a:sym typeface="Proxima Nova"/>
                </a:rPr>
                <a:t>Modern Tech Presentation</a:t>
              </a:r>
            </a:p>
          </p:txBody>
        </p:sp>
        <p:sp>
          <p:nvSpPr>
            <p:cNvPr name="TextBox 12" id="12"/>
            <p:cNvSpPr txBox="true"/>
            <p:nvPr/>
          </p:nvSpPr>
          <p:spPr>
            <a:xfrm rot="0">
              <a:off x="4756649" y="145856"/>
              <a:ext cx="430360" cy="321098"/>
            </a:xfrm>
            <a:prstGeom prst="rect">
              <a:avLst/>
            </a:prstGeom>
          </p:spPr>
          <p:txBody>
            <a:bodyPr anchor="t" rtlCol="false" tIns="0" lIns="0" bIns="0" rIns="0">
              <a:spAutoFit/>
            </a:bodyPr>
            <a:lstStyle/>
            <a:p>
              <a:pPr algn="ctr">
                <a:lnSpc>
                  <a:spcPts val="1639"/>
                </a:lnSpc>
              </a:pPr>
              <a:r>
                <a:rPr lang="en-US" sz="1821">
                  <a:solidFill>
                    <a:srgbClr val="FFFDFA"/>
                  </a:solidFill>
                  <a:latin typeface="Bebas Neue Cyrillic"/>
                  <a:ea typeface="Bebas Neue Cyrillic"/>
                  <a:cs typeface="Bebas Neue Cyrillic"/>
                  <a:sym typeface="Bebas Neue Cyrillic"/>
                </a:rPr>
                <a:t>08</a:t>
              </a:r>
            </a:p>
          </p:txBody>
        </p:sp>
      </p:grpSp>
      <p:grpSp>
        <p:nvGrpSpPr>
          <p:cNvPr name="Group 13" id="13"/>
          <p:cNvGrpSpPr/>
          <p:nvPr/>
        </p:nvGrpSpPr>
        <p:grpSpPr>
          <a:xfrm rot="0">
            <a:off x="11096070" y="0"/>
            <a:ext cx="7191930" cy="10287000"/>
            <a:chOff x="0" y="0"/>
            <a:chExt cx="1894171" cy="2709333"/>
          </a:xfrm>
        </p:grpSpPr>
        <p:sp>
          <p:nvSpPr>
            <p:cNvPr name="Freeform 14" id="14"/>
            <p:cNvSpPr/>
            <p:nvPr/>
          </p:nvSpPr>
          <p:spPr>
            <a:xfrm flipH="false" flipV="false" rot="0">
              <a:off x="0" y="0"/>
              <a:ext cx="1894171" cy="2709333"/>
            </a:xfrm>
            <a:custGeom>
              <a:avLst/>
              <a:gdLst/>
              <a:ahLst/>
              <a:cxnLst/>
              <a:rect r="r" b="b" t="t" l="l"/>
              <a:pathLst>
                <a:path h="2709333" w="1894171">
                  <a:moveTo>
                    <a:pt x="0" y="0"/>
                  </a:moveTo>
                  <a:lnTo>
                    <a:pt x="1894171" y="0"/>
                  </a:lnTo>
                  <a:lnTo>
                    <a:pt x="1894171" y="2709333"/>
                  </a:lnTo>
                  <a:lnTo>
                    <a:pt x="0" y="2709333"/>
                  </a:lnTo>
                  <a:close/>
                </a:path>
              </a:pathLst>
            </a:custGeom>
            <a:solidFill>
              <a:srgbClr val="093A47"/>
            </a:solidFill>
          </p:spPr>
        </p:sp>
        <p:sp>
          <p:nvSpPr>
            <p:cNvPr name="TextBox 15" id="15"/>
            <p:cNvSpPr txBox="true"/>
            <p:nvPr/>
          </p:nvSpPr>
          <p:spPr>
            <a:xfrm>
              <a:off x="0" y="-38100"/>
              <a:ext cx="1894171" cy="2747433"/>
            </a:xfrm>
            <a:prstGeom prst="rect">
              <a:avLst/>
            </a:prstGeom>
          </p:spPr>
          <p:txBody>
            <a:bodyPr anchor="ctr" rtlCol="false" tIns="50800" lIns="50800" bIns="50800" rIns="50800"/>
            <a:lstStyle/>
            <a:p>
              <a:pPr algn="ctr">
                <a:lnSpc>
                  <a:spcPts val="2940"/>
                </a:lnSpc>
              </a:pPr>
            </a:p>
          </p:txBody>
        </p:sp>
      </p:grpSp>
      <p:grpSp>
        <p:nvGrpSpPr>
          <p:cNvPr name="Group 16" id="16"/>
          <p:cNvGrpSpPr/>
          <p:nvPr/>
        </p:nvGrpSpPr>
        <p:grpSpPr>
          <a:xfrm rot="0">
            <a:off x="9682247" y="1424196"/>
            <a:ext cx="7577053" cy="6676608"/>
            <a:chOff x="0" y="0"/>
            <a:chExt cx="1173884" cy="1034381"/>
          </a:xfrm>
        </p:grpSpPr>
        <p:sp>
          <p:nvSpPr>
            <p:cNvPr name="Freeform 17" id="17"/>
            <p:cNvSpPr/>
            <p:nvPr/>
          </p:nvSpPr>
          <p:spPr>
            <a:xfrm flipH="false" flipV="false" rot="0">
              <a:off x="0" y="0"/>
              <a:ext cx="1173884" cy="1034381"/>
            </a:xfrm>
            <a:custGeom>
              <a:avLst/>
              <a:gdLst/>
              <a:ahLst/>
              <a:cxnLst/>
              <a:rect r="r" b="b" t="t" l="l"/>
              <a:pathLst>
                <a:path h="1034381" w="1173884">
                  <a:moveTo>
                    <a:pt x="30653" y="0"/>
                  </a:moveTo>
                  <a:lnTo>
                    <a:pt x="1143231" y="0"/>
                  </a:lnTo>
                  <a:cubicBezTo>
                    <a:pt x="1160160" y="0"/>
                    <a:pt x="1173884" y="13724"/>
                    <a:pt x="1173884" y="30653"/>
                  </a:cubicBezTo>
                  <a:lnTo>
                    <a:pt x="1173884" y="1003728"/>
                  </a:lnTo>
                  <a:cubicBezTo>
                    <a:pt x="1173884" y="1011858"/>
                    <a:pt x="1170654" y="1019655"/>
                    <a:pt x="1164906" y="1025403"/>
                  </a:cubicBezTo>
                  <a:cubicBezTo>
                    <a:pt x="1159157" y="1031152"/>
                    <a:pt x="1151361" y="1034381"/>
                    <a:pt x="1143231" y="1034381"/>
                  </a:cubicBezTo>
                  <a:lnTo>
                    <a:pt x="30653" y="1034381"/>
                  </a:lnTo>
                  <a:cubicBezTo>
                    <a:pt x="22523" y="1034381"/>
                    <a:pt x="14726" y="1031152"/>
                    <a:pt x="8978" y="1025403"/>
                  </a:cubicBezTo>
                  <a:cubicBezTo>
                    <a:pt x="3229" y="1019655"/>
                    <a:pt x="0" y="1011858"/>
                    <a:pt x="0" y="1003728"/>
                  </a:cubicBezTo>
                  <a:lnTo>
                    <a:pt x="0" y="30653"/>
                  </a:lnTo>
                  <a:cubicBezTo>
                    <a:pt x="0" y="22523"/>
                    <a:pt x="3229" y="14726"/>
                    <a:pt x="8978" y="8978"/>
                  </a:cubicBezTo>
                  <a:cubicBezTo>
                    <a:pt x="14726" y="3229"/>
                    <a:pt x="22523" y="0"/>
                    <a:pt x="30653" y="0"/>
                  </a:cubicBezTo>
                  <a:close/>
                </a:path>
              </a:pathLst>
            </a:custGeom>
            <a:blipFill>
              <a:blip r:embed="rId6"/>
              <a:stretch>
                <a:fillRect l="-16128" t="0" r="-16128" b="0"/>
              </a:stretch>
            </a:blipFill>
            <a:ln w="76200" cap="rnd">
              <a:solidFill>
                <a:srgbClr val="FFFDFA"/>
              </a:solidFill>
              <a:prstDash val="solid"/>
              <a:round/>
            </a:ln>
          </p:spPr>
        </p:sp>
      </p:grpSp>
      <p:sp>
        <p:nvSpPr>
          <p:cNvPr name="TextBox 18" id="18"/>
          <p:cNvSpPr txBox="true"/>
          <p:nvPr/>
        </p:nvSpPr>
        <p:spPr>
          <a:xfrm rot="0">
            <a:off x="511157" y="1816074"/>
            <a:ext cx="6981944" cy="1052601"/>
          </a:xfrm>
          <a:prstGeom prst="rect">
            <a:avLst/>
          </a:prstGeom>
        </p:spPr>
        <p:txBody>
          <a:bodyPr anchor="t" rtlCol="false" tIns="0" lIns="0" bIns="0" rIns="0">
            <a:spAutoFit/>
          </a:bodyPr>
          <a:lstStyle/>
          <a:p>
            <a:pPr algn="l">
              <a:lnSpc>
                <a:spcPts val="7548"/>
              </a:lnSpc>
            </a:pPr>
            <a:r>
              <a:rPr lang="en-US" sz="8386">
                <a:solidFill>
                  <a:srgbClr val="093A47"/>
                </a:solidFill>
                <a:latin typeface="Bebas Neue Cyrillic"/>
                <a:ea typeface="Bebas Neue Cyrillic"/>
                <a:cs typeface="Bebas Neue Cyrillic"/>
                <a:sym typeface="Bebas Neue Cyrillic"/>
              </a:rPr>
              <a:t>Pengujian sistem</a:t>
            </a:r>
          </a:p>
        </p:txBody>
      </p:sp>
      <p:sp>
        <p:nvSpPr>
          <p:cNvPr name="TextBox 19" id="19"/>
          <p:cNvSpPr txBox="true"/>
          <p:nvPr/>
        </p:nvSpPr>
        <p:spPr>
          <a:xfrm rot="0">
            <a:off x="511157" y="2821051"/>
            <a:ext cx="8992698" cy="5355425"/>
          </a:xfrm>
          <a:prstGeom prst="rect">
            <a:avLst/>
          </a:prstGeom>
        </p:spPr>
        <p:txBody>
          <a:bodyPr anchor="t" rtlCol="false" tIns="0" lIns="0" bIns="0" rIns="0">
            <a:spAutoFit/>
          </a:bodyPr>
          <a:lstStyle/>
          <a:p>
            <a:pPr algn="just">
              <a:lnSpc>
                <a:spcPts val="3544"/>
              </a:lnSpc>
            </a:pPr>
            <a:r>
              <a:rPr lang="en-US" sz="2531" spc="75">
                <a:solidFill>
                  <a:srgbClr val="093A47"/>
                </a:solidFill>
                <a:latin typeface="Proxima Nova"/>
                <a:ea typeface="Proxima Nova"/>
                <a:cs typeface="Proxima Nova"/>
                <a:sym typeface="Proxima Nova"/>
              </a:rPr>
              <a:t>Pengujian dilakukan untuk memastikan layanan berjalan dengan benar dan menangani berbagai kondisi input.</a:t>
            </a:r>
          </a:p>
          <a:p>
            <a:pPr algn="just">
              <a:lnSpc>
                <a:spcPts val="3544"/>
              </a:lnSpc>
            </a:pPr>
          </a:p>
          <a:p>
            <a:pPr algn="just">
              <a:lnSpc>
                <a:spcPts val="3544"/>
              </a:lnSpc>
            </a:pPr>
            <a:r>
              <a:rPr lang="en-US" sz="2531" spc="75">
                <a:solidFill>
                  <a:srgbClr val="093A47"/>
                </a:solidFill>
                <a:latin typeface="Proxima Nova"/>
                <a:ea typeface="Proxima Nova"/>
                <a:cs typeface="Proxima Nova"/>
                <a:sym typeface="Proxima Nova"/>
              </a:rPr>
              <a:t>Skenario pengujian</a:t>
            </a:r>
          </a:p>
          <a:p>
            <a:pPr algn="l" marL="546549" indent="-273274" lvl="1">
              <a:lnSpc>
                <a:spcPts val="3544"/>
              </a:lnSpc>
              <a:buAutoNum type="arabicPeriod" startAt="1"/>
            </a:pPr>
            <a:r>
              <a:rPr lang="en-US" sz="2531" spc="75">
                <a:solidFill>
                  <a:srgbClr val="093A47"/>
                </a:solidFill>
                <a:latin typeface="Proxima Nova"/>
                <a:ea typeface="Proxima Nova"/>
                <a:cs typeface="Proxima Nova"/>
                <a:sym typeface="Proxima Nova"/>
              </a:rPr>
              <a:t>Input artikel normal.</a:t>
            </a:r>
          </a:p>
          <a:p>
            <a:pPr algn="l" marL="546549" indent="-273274" lvl="1">
              <a:lnSpc>
                <a:spcPts val="3544"/>
              </a:lnSpc>
              <a:buAutoNum type="arabicPeriod" startAt="1"/>
            </a:pPr>
            <a:r>
              <a:rPr lang="en-US" sz="2531" spc="75">
                <a:solidFill>
                  <a:srgbClr val="093A47"/>
                </a:solidFill>
                <a:latin typeface="Proxima Nova"/>
                <a:ea typeface="Proxima Nova"/>
                <a:cs typeface="Proxima Nova"/>
                <a:sym typeface="Proxima Nova"/>
              </a:rPr>
              <a:t>Judul atau isi artikel kosong.</a:t>
            </a:r>
          </a:p>
          <a:p>
            <a:pPr algn="l" marL="546549" indent="-273274" lvl="1">
              <a:lnSpc>
                <a:spcPts val="3544"/>
              </a:lnSpc>
              <a:buAutoNum type="arabicPeriod" startAt="1"/>
            </a:pPr>
            <a:r>
              <a:rPr lang="en-US" sz="2531" spc="75">
                <a:solidFill>
                  <a:srgbClr val="093A47"/>
                </a:solidFill>
                <a:latin typeface="Proxima Nova"/>
                <a:ea typeface="Proxima Nova"/>
                <a:cs typeface="Proxima Nova"/>
                <a:sym typeface="Proxima Nova"/>
              </a:rPr>
              <a:t>Teks dengan tanda baca.</a:t>
            </a:r>
          </a:p>
          <a:p>
            <a:pPr algn="l" marL="546549" indent="-273274" lvl="1">
              <a:lnSpc>
                <a:spcPts val="3544"/>
              </a:lnSpc>
              <a:buAutoNum type="arabicPeriod" startAt="1"/>
            </a:pPr>
            <a:r>
              <a:rPr lang="en-US" sz="2531" spc="75">
                <a:solidFill>
                  <a:srgbClr val="093A47"/>
                </a:solidFill>
                <a:latin typeface="Proxima Nova"/>
                <a:ea typeface="Proxima Nova"/>
                <a:cs typeface="Proxima Nova"/>
                <a:sym typeface="Proxima Nova"/>
              </a:rPr>
              <a:t>Entitas yang muncul berulang.</a:t>
            </a:r>
          </a:p>
          <a:p>
            <a:pPr algn="l" marL="546549" indent="-273274" lvl="1">
              <a:lnSpc>
                <a:spcPts val="3544"/>
              </a:lnSpc>
              <a:buAutoNum type="arabicPeriod" startAt="1"/>
            </a:pPr>
            <a:r>
              <a:rPr lang="en-US" sz="2531" spc="75">
                <a:solidFill>
                  <a:srgbClr val="093A47"/>
                </a:solidFill>
                <a:latin typeface="Proxima Nova"/>
                <a:ea typeface="Proxima Nova"/>
                <a:cs typeface="Proxima Nova"/>
                <a:sym typeface="Proxima Nova"/>
              </a:rPr>
              <a:t>Teks berisi tanggal atau karakter non-ASCII.</a:t>
            </a:r>
          </a:p>
          <a:p>
            <a:pPr algn="l" marL="546549" indent="-273274" lvl="1">
              <a:lnSpc>
                <a:spcPts val="3544"/>
              </a:lnSpc>
              <a:buAutoNum type="arabicPeriod" startAt="1"/>
            </a:pPr>
            <a:r>
              <a:rPr lang="en-US" sz="2531" spc="75">
                <a:solidFill>
                  <a:srgbClr val="093A47"/>
                </a:solidFill>
                <a:latin typeface="Proxima Nova"/>
                <a:ea typeface="Proxima Nova"/>
                <a:cs typeface="Proxima Nova"/>
                <a:sym typeface="Proxima Nova"/>
              </a:rPr>
              <a:t>Input yang melebihi bata</a:t>
            </a:r>
            <a:r>
              <a:rPr lang="en-US" sz="2531" spc="75">
                <a:solidFill>
                  <a:srgbClr val="093A47"/>
                </a:solidFill>
                <a:latin typeface="Proxima Nova"/>
                <a:ea typeface="Proxima Nova"/>
                <a:cs typeface="Proxima Nova"/>
                <a:sym typeface="Proxima Nova"/>
              </a:rPr>
              <a:t>s panjang.</a:t>
            </a:r>
          </a:p>
          <a:p>
            <a:pPr algn="l" marL="546549" indent="-273274" lvl="1">
              <a:lnSpc>
                <a:spcPts val="3544"/>
              </a:lnSpc>
              <a:buAutoNum type="arabicPeriod" startAt="1"/>
            </a:pPr>
            <a:r>
              <a:rPr lang="en-US" sz="2531" spc="75">
                <a:solidFill>
                  <a:srgbClr val="093A47"/>
                </a:solidFill>
                <a:latin typeface="Proxima Nova"/>
                <a:ea typeface="Proxima Nova"/>
                <a:cs typeface="Proxima Nova"/>
                <a:sym typeface="Proxima Nova"/>
              </a:rPr>
              <a:t>Penanganan kesalahan API atau backend</a:t>
            </a:r>
          </a:p>
          <a:p>
            <a:pPr algn="just">
              <a:lnSpc>
                <a:spcPts val="3544"/>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DFA"/>
        </a:solidFill>
      </p:bgPr>
    </p:bg>
    <p:spTree>
      <p:nvGrpSpPr>
        <p:cNvPr id="1" name=""/>
        <p:cNvGrpSpPr/>
        <p:nvPr/>
      </p:nvGrpSpPr>
      <p:grpSpPr>
        <a:xfrm>
          <a:off x="0" y="0"/>
          <a:ext cx="0" cy="0"/>
          <a:chOff x="0" y="0"/>
          <a:chExt cx="0" cy="0"/>
        </a:xfrm>
      </p:grpSpPr>
      <p:sp>
        <p:nvSpPr>
          <p:cNvPr name="AutoShape 2" id="2"/>
          <p:cNvSpPr/>
          <p:nvPr/>
        </p:nvSpPr>
        <p:spPr>
          <a:xfrm>
            <a:off x="511157" y="9239250"/>
            <a:ext cx="17265685" cy="0"/>
          </a:xfrm>
          <a:prstGeom prst="line">
            <a:avLst/>
          </a:prstGeom>
          <a:ln cap="flat" w="38100">
            <a:solidFill>
              <a:srgbClr val="093A47"/>
            </a:solidFill>
            <a:prstDash val="solid"/>
            <a:headEnd type="none" len="sm" w="sm"/>
            <a:tailEnd type="none" len="sm" w="sm"/>
          </a:ln>
        </p:spPr>
      </p:sp>
      <p:sp>
        <p:nvSpPr>
          <p:cNvPr name="AutoShape 3" id="3"/>
          <p:cNvSpPr/>
          <p:nvPr/>
        </p:nvSpPr>
        <p:spPr>
          <a:xfrm>
            <a:off x="511157" y="1028700"/>
            <a:ext cx="17265685" cy="0"/>
          </a:xfrm>
          <a:prstGeom prst="line">
            <a:avLst/>
          </a:prstGeom>
          <a:ln cap="flat" w="38100">
            <a:solidFill>
              <a:srgbClr val="093A47"/>
            </a:solidFill>
            <a:prstDash val="solid"/>
            <a:headEnd type="none" len="sm" w="sm"/>
            <a:tailEnd type="none" len="sm" w="sm"/>
          </a:ln>
        </p:spPr>
      </p:sp>
      <p:sp>
        <p:nvSpPr>
          <p:cNvPr name="Freeform 4" id="4"/>
          <p:cNvSpPr/>
          <p:nvPr/>
        </p:nvSpPr>
        <p:spPr>
          <a:xfrm flipH="true" flipV="false" rot="0">
            <a:off x="17473987" y="9485033"/>
            <a:ext cx="302856" cy="302856"/>
          </a:xfrm>
          <a:custGeom>
            <a:avLst/>
            <a:gdLst/>
            <a:ahLst/>
            <a:cxnLst/>
            <a:rect r="r" b="b" t="t" l="l"/>
            <a:pathLst>
              <a:path h="302856" w="302856">
                <a:moveTo>
                  <a:pt x="302856" y="0"/>
                </a:moveTo>
                <a:lnTo>
                  <a:pt x="0" y="0"/>
                </a:lnTo>
                <a:lnTo>
                  <a:pt x="0" y="302856"/>
                </a:lnTo>
                <a:lnTo>
                  <a:pt x="302856" y="302856"/>
                </a:lnTo>
                <a:lnTo>
                  <a:pt x="30285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511157" y="359544"/>
            <a:ext cx="458544" cy="431031"/>
          </a:xfrm>
          <a:custGeom>
            <a:avLst/>
            <a:gdLst/>
            <a:ahLst/>
            <a:cxnLst/>
            <a:rect r="r" b="b" t="t" l="l"/>
            <a:pathLst>
              <a:path h="431031" w="458544">
                <a:moveTo>
                  <a:pt x="0" y="0"/>
                </a:moveTo>
                <a:lnTo>
                  <a:pt x="458545" y="0"/>
                </a:lnTo>
                <a:lnTo>
                  <a:pt x="458545" y="431031"/>
                </a:lnTo>
                <a:lnTo>
                  <a:pt x="0" y="4310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7345811" y="359544"/>
            <a:ext cx="431031" cy="43103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93A47"/>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940"/>
                </a:lnSpc>
              </a:pPr>
            </a:p>
          </p:txBody>
        </p:sp>
      </p:grpSp>
      <p:sp>
        <p:nvSpPr>
          <p:cNvPr name="TextBox 9" id="9"/>
          <p:cNvSpPr txBox="true"/>
          <p:nvPr/>
        </p:nvSpPr>
        <p:spPr>
          <a:xfrm rot="0">
            <a:off x="1017327" y="377873"/>
            <a:ext cx="1939146" cy="356210"/>
          </a:xfrm>
          <a:prstGeom prst="rect">
            <a:avLst/>
          </a:prstGeom>
        </p:spPr>
        <p:txBody>
          <a:bodyPr anchor="t" rtlCol="false" tIns="0" lIns="0" bIns="0" rIns="0">
            <a:spAutoFit/>
          </a:bodyPr>
          <a:lstStyle/>
          <a:p>
            <a:pPr algn="l">
              <a:lnSpc>
                <a:spcPts val="2940"/>
              </a:lnSpc>
            </a:pPr>
            <a:r>
              <a:rPr lang="en-US" sz="2100">
                <a:solidFill>
                  <a:srgbClr val="093A47"/>
                </a:solidFill>
                <a:latin typeface="Proxima Nova"/>
                <a:ea typeface="Proxima Nova"/>
                <a:cs typeface="Proxima Nova"/>
                <a:sym typeface="Proxima Nova"/>
              </a:rPr>
              <a:t>Data Science</a:t>
            </a:r>
          </a:p>
        </p:txBody>
      </p:sp>
      <p:sp>
        <p:nvSpPr>
          <p:cNvPr name="TextBox 10" id="10"/>
          <p:cNvSpPr txBox="true"/>
          <p:nvPr/>
        </p:nvSpPr>
        <p:spPr>
          <a:xfrm rot="0">
            <a:off x="13832455" y="377873"/>
            <a:ext cx="3465731" cy="356272"/>
          </a:xfrm>
          <a:prstGeom prst="rect">
            <a:avLst/>
          </a:prstGeom>
        </p:spPr>
        <p:txBody>
          <a:bodyPr anchor="t" rtlCol="false" tIns="0" lIns="0" bIns="0" rIns="0">
            <a:spAutoFit/>
          </a:bodyPr>
          <a:lstStyle/>
          <a:p>
            <a:pPr algn="r">
              <a:lnSpc>
                <a:spcPts val="2940"/>
              </a:lnSpc>
            </a:pPr>
            <a:r>
              <a:rPr lang="en-US" sz="2100">
                <a:solidFill>
                  <a:srgbClr val="093A47"/>
                </a:solidFill>
                <a:latin typeface="Proxima Nova"/>
                <a:ea typeface="Proxima Nova"/>
                <a:cs typeface="Proxima Nova"/>
                <a:sym typeface="Proxima Nova"/>
              </a:rPr>
              <a:t>Modern Tech Presentation</a:t>
            </a:r>
          </a:p>
        </p:txBody>
      </p:sp>
      <p:sp>
        <p:nvSpPr>
          <p:cNvPr name="TextBox 11" id="11"/>
          <p:cNvSpPr txBox="true"/>
          <p:nvPr/>
        </p:nvSpPr>
        <p:spPr>
          <a:xfrm rot="0">
            <a:off x="17399942" y="478460"/>
            <a:ext cx="322770" cy="231298"/>
          </a:xfrm>
          <a:prstGeom prst="rect">
            <a:avLst/>
          </a:prstGeom>
        </p:spPr>
        <p:txBody>
          <a:bodyPr anchor="t" rtlCol="false" tIns="0" lIns="0" bIns="0" rIns="0">
            <a:spAutoFit/>
          </a:bodyPr>
          <a:lstStyle/>
          <a:p>
            <a:pPr algn="ctr">
              <a:lnSpc>
                <a:spcPts val="1639"/>
              </a:lnSpc>
            </a:pPr>
            <a:r>
              <a:rPr lang="en-US" sz="1821">
                <a:solidFill>
                  <a:srgbClr val="FFFDFA"/>
                </a:solidFill>
                <a:latin typeface="Bebas Neue Cyrillic"/>
                <a:ea typeface="Bebas Neue Cyrillic"/>
                <a:cs typeface="Bebas Neue Cyrillic"/>
                <a:sym typeface="Bebas Neue Cyrillic"/>
              </a:rPr>
              <a:t>09</a:t>
            </a:r>
          </a:p>
        </p:txBody>
      </p:sp>
      <p:sp>
        <p:nvSpPr>
          <p:cNvPr name="TextBox 12" id="12"/>
          <p:cNvSpPr txBox="true"/>
          <p:nvPr/>
        </p:nvSpPr>
        <p:spPr>
          <a:xfrm rot="0">
            <a:off x="511157" y="1585258"/>
            <a:ext cx="10854663" cy="1052601"/>
          </a:xfrm>
          <a:prstGeom prst="rect">
            <a:avLst/>
          </a:prstGeom>
        </p:spPr>
        <p:txBody>
          <a:bodyPr anchor="t" rtlCol="false" tIns="0" lIns="0" bIns="0" rIns="0">
            <a:spAutoFit/>
          </a:bodyPr>
          <a:lstStyle/>
          <a:p>
            <a:pPr algn="l">
              <a:lnSpc>
                <a:spcPts val="7548"/>
              </a:lnSpc>
            </a:pPr>
            <a:r>
              <a:rPr lang="en-US" sz="8386">
                <a:solidFill>
                  <a:srgbClr val="093A47"/>
                </a:solidFill>
                <a:latin typeface="Bebas Neue Cyrillic"/>
                <a:ea typeface="Bebas Neue Cyrillic"/>
                <a:cs typeface="Bebas Neue Cyrillic"/>
                <a:sym typeface="Bebas Neue Cyrillic"/>
              </a:rPr>
              <a:t>kesimpulan dan keterbatasan</a:t>
            </a:r>
          </a:p>
        </p:txBody>
      </p:sp>
      <p:sp>
        <p:nvSpPr>
          <p:cNvPr name="TextBox 13" id="13"/>
          <p:cNvSpPr txBox="true"/>
          <p:nvPr/>
        </p:nvSpPr>
        <p:spPr>
          <a:xfrm rot="0">
            <a:off x="511157" y="3331738"/>
            <a:ext cx="8201383" cy="4460345"/>
          </a:xfrm>
          <a:prstGeom prst="rect">
            <a:avLst/>
          </a:prstGeom>
        </p:spPr>
        <p:txBody>
          <a:bodyPr anchor="t" rtlCol="false" tIns="0" lIns="0" bIns="0" rIns="0">
            <a:spAutoFit/>
          </a:bodyPr>
          <a:lstStyle/>
          <a:p>
            <a:pPr algn="just" marL="546549" indent="-273274" lvl="1">
              <a:lnSpc>
                <a:spcPts val="3544"/>
              </a:lnSpc>
              <a:buAutoNum type="arabicPeriod" startAt="1"/>
            </a:pPr>
            <a:r>
              <a:rPr lang="en-US" sz="2531" spc="75">
                <a:solidFill>
                  <a:srgbClr val="093A47"/>
                </a:solidFill>
                <a:latin typeface="Proxima Nova"/>
                <a:ea typeface="Proxima Nova"/>
                <a:cs typeface="Proxima Nova"/>
                <a:sym typeface="Proxima Nova"/>
              </a:rPr>
              <a:t>Studi kasus menggabungkan preprocessing data, anotasi, pengembangan model NER, evaluasi, dan implementasi layanan web.</a:t>
            </a:r>
          </a:p>
          <a:p>
            <a:pPr algn="just" marL="546549" indent="-273274" lvl="1">
              <a:lnSpc>
                <a:spcPts val="3544"/>
              </a:lnSpc>
              <a:buAutoNum type="arabicPeriod" startAt="1"/>
            </a:pPr>
            <a:r>
              <a:rPr lang="en-US" sz="2531" spc="75">
                <a:solidFill>
                  <a:srgbClr val="093A47"/>
                </a:solidFill>
                <a:latin typeface="Proxima Nova"/>
                <a:ea typeface="Proxima Nova"/>
                <a:cs typeface="Proxima Nova"/>
                <a:sym typeface="Proxima Nova"/>
              </a:rPr>
              <a:t>Model digunakan untuk mengenali entitas dari judul dan isi artikel.</a:t>
            </a:r>
          </a:p>
          <a:p>
            <a:pPr algn="just" marL="546549" indent="-273274" lvl="1">
              <a:lnSpc>
                <a:spcPts val="3544"/>
              </a:lnSpc>
              <a:buAutoNum type="arabicPeriod" startAt="1"/>
            </a:pPr>
            <a:r>
              <a:rPr lang="en-US" sz="2531" spc="75">
                <a:solidFill>
                  <a:srgbClr val="093A47"/>
                </a:solidFill>
                <a:latin typeface="Proxima Nova"/>
                <a:ea typeface="Proxima Nova"/>
                <a:cs typeface="Proxima Nova"/>
                <a:sym typeface="Proxima Nova"/>
              </a:rPr>
              <a:t>Kin</a:t>
            </a:r>
            <a:r>
              <a:rPr lang="en-US" sz="2531" spc="75">
                <a:solidFill>
                  <a:srgbClr val="093A47"/>
                </a:solidFill>
                <a:latin typeface="Proxima Nova"/>
                <a:ea typeface="Proxima Nova"/>
                <a:cs typeface="Proxima Nova"/>
                <a:sym typeface="Proxima Nova"/>
              </a:rPr>
              <a:t>erja model dinilai melalui precision, recall, F1-score, dan analisis kesalahan.</a:t>
            </a:r>
          </a:p>
          <a:p>
            <a:pPr algn="just" marL="546549" indent="-273274" lvl="1">
              <a:lnSpc>
                <a:spcPts val="3544"/>
              </a:lnSpc>
              <a:buAutoNum type="arabicPeriod" startAt="1"/>
            </a:pPr>
            <a:r>
              <a:rPr lang="en-US" sz="2531" spc="75">
                <a:solidFill>
                  <a:srgbClr val="093A47"/>
                </a:solidFill>
                <a:latin typeface="Proxima Nova"/>
                <a:ea typeface="Proxima Nova"/>
                <a:cs typeface="Proxima Nova"/>
                <a:sym typeface="Proxima Nova"/>
              </a:rPr>
              <a:t>Keberhasilan akhir dinilai dari hasil evaluasi model dan fungsi layanan web.</a:t>
            </a:r>
          </a:p>
          <a:p>
            <a:pPr algn="just">
              <a:lnSpc>
                <a:spcPts val="3544"/>
              </a:lnSpc>
            </a:pPr>
          </a:p>
        </p:txBody>
      </p:sp>
      <p:sp>
        <p:nvSpPr>
          <p:cNvPr name="TextBox 14" id="14"/>
          <p:cNvSpPr txBox="true"/>
          <p:nvPr/>
        </p:nvSpPr>
        <p:spPr>
          <a:xfrm rot="0">
            <a:off x="511157" y="2590234"/>
            <a:ext cx="5355909" cy="512904"/>
          </a:xfrm>
          <a:prstGeom prst="rect">
            <a:avLst/>
          </a:prstGeom>
        </p:spPr>
        <p:txBody>
          <a:bodyPr anchor="t" rtlCol="false" tIns="0" lIns="0" bIns="0" rIns="0">
            <a:spAutoFit/>
          </a:bodyPr>
          <a:lstStyle/>
          <a:p>
            <a:pPr algn="l">
              <a:lnSpc>
                <a:spcPts val="4281"/>
              </a:lnSpc>
            </a:pPr>
            <a:r>
              <a:rPr lang="en-US" sz="3057" spc="61" b="true">
                <a:solidFill>
                  <a:srgbClr val="0C586D"/>
                </a:solidFill>
                <a:latin typeface="Proxima Nova Bold"/>
                <a:ea typeface="Proxima Nova Bold"/>
                <a:cs typeface="Proxima Nova Bold"/>
                <a:sym typeface="Proxima Nova Bold"/>
              </a:rPr>
              <a:t>Kesimpulan</a:t>
            </a:r>
          </a:p>
        </p:txBody>
      </p:sp>
      <p:sp>
        <p:nvSpPr>
          <p:cNvPr name="TextBox 15" id="15"/>
          <p:cNvSpPr txBox="true"/>
          <p:nvPr/>
        </p:nvSpPr>
        <p:spPr>
          <a:xfrm rot="0">
            <a:off x="2657168" y="8431069"/>
            <a:ext cx="2349310" cy="456399"/>
          </a:xfrm>
          <a:prstGeom prst="rect">
            <a:avLst/>
          </a:prstGeom>
        </p:spPr>
        <p:txBody>
          <a:bodyPr anchor="t" rtlCol="false" tIns="0" lIns="0" bIns="0" rIns="0">
            <a:spAutoFit/>
          </a:bodyPr>
          <a:lstStyle/>
          <a:p>
            <a:pPr algn="ctr">
              <a:lnSpc>
                <a:spcPts val="3721"/>
              </a:lnSpc>
            </a:pPr>
            <a:r>
              <a:rPr lang="en-US" b="true" sz="2658" spc="53">
                <a:solidFill>
                  <a:srgbClr val="FFFDFA"/>
                </a:solidFill>
                <a:latin typeface="Proxima Nova Bold"/>
                <a:ea typeface="Proxima Nova Bold"/>
                <a:cs typeface="Proxima Nova Bold"/>
                <a:sym typeface="Proxima Nova Bold"/>
              </a:rPr>
              <a:t>Data Privacy</a:t>
            </a:r>
          </a:p>
        </p:txBody>
      </p:sp>
      <p:sp>
        <p:nvSpPr>
          <p:cNvPr name="TextBox 16" id="16"/>
          <p:cNvSpPr txBox="true"/>
          <p:nvPr/>
        </p:nvSpPr>
        <p:spPr>
          <a:xfrm rot="0">
            <a:off x="7849501" y="8431069"/>
            <a:ext cx="2349310" cy="456399"/>
          </a:xfrm>
          <a:prstGeom prst="rect">
            <a:avLst/>
          </a:prstGeom>
        </p:spPr>
        <p:txBody>
          <a:bodyPr anchor="t" rtlCol="false" tIns="0" lIns="0" bIns="0" rIns="0">
            <a:spAutoFit/>
          </a:bodyPr>
          <a:lstStyle/>
          <a:p>
            <a:pPr algn="ctr">
              <a:lnSpc>
                <a:spcPts val="3721"/>
              </a:lnSpc>
            </a:pPr>
            <a:r>
              <a:rPr lang="en-US" b="true" sz="2658" spc="53">
                <a:solidFill>
                  <a:srgbClr val="FFFDFA"/>
                </a:solidFill>
                <a:latin typeface="Proxima Nova Bold"/>
                <a:ea typeface="Proxima Nova Bold"/>
                <a:cs typeface="Proxima Nova Bold"/>
                <a:sym typeface="Proxima Nova Bold"/>
              </a:rPr>
              <a:t>Secu</a:t>
            </a:r>
            <a:r>
              <a:rPr lang="en-US" b="true" sz="2658" spc="53">
                <a:solidFill>
                  <a:srgbClr val="FFFDFA"/>
                </a:solidFill>
                <a:latin typeface="Proxima Nova Bold"/>
                <a:ea typeface="Proxima Nova Bold"/>
                <a:cs typeface="Proxima Nova Bold"/>
                <a:sym typeface="Proxima Nova Bold"/>
              </a:rPr>
              <a:t>rity Risks</a:t>
            </a:r>
          </a:p>
        </p:txBody>
      </p:sp>
      <p:sp>
        <p:nvSpPr>
          <p:cNvPr name="TextBox 17" id="17"/>
          <p:cNvSpPr txBox="true"/>
          <p:nvPr/>
        </p:nvSpPr>
        <p:spPr>
          <a:xfrm rot="0">
            <a:off x="10198811" y="2590234"/>
            <a:ext cx="5355909" cy="512904"/>
          </a:xfrm>
          <a:prstGeom prst="rect">
            <a:avLst/>
          </a:prstGeom>
        </p:spPr>
        <p:txBody>
          <a:bodyPr anchor="t" rtlCol="false" tIns="0" lIns="0" bIns="0" rIns="0">
            <a:spAutoFit/>
          </a:bodyPr>
          <a:lstStyle/>
          <a:p>
            <a:pPr algn="l">
              <a:lnSpc>
                <a:spcPts val="4281"/>
              </a:lnSpc>
            </a:pPr>
            <a:r>
              <a:rPr lang="en-US" sz="3057" spc="61" b="true">
                <a:solidFill>
                  <a:srgbClr val="0C586D"/>
                </a:solidFill>
                <a:latin typeface="Proxima Nova Bold"/>
                <a:ea typeface="Proxima Nova Bold"/>
                <a:cs typeface="Proxima Nova Bold"/>
                <a:sym typeface="Proxima Nova Bold"/>
              </a:rPr>
              <a:t>Keterbatasan</a:t>
            </a:r>
          </a:p>
        </p:txBody>
      </p:sp>
      <p:sp>
        <p:nvSpPr>
          <p:cNvPr name="TextBox 18" id="18"/>
          <p:cNvSpPr txBox="true"/>
          <p:nvPr/>
        </p:nvSpPr>
        <p:spPr>
          <a:xfrm rot="0">
            <a:off x="9575460" y="3369838"/>
            <a:ext cx="8201383" cy="4460075"/>
          </a:xfrm>
          <a:prstGeom prst="rect">
            <a:avLst/>
          </a:prstGeom>
        </p:spPr>
        <p:txBody>
          <a:bodyPr anchor="t" rtlCol="false" tIns="0" lIns="0" bIns="0" rIns="0">
            <a:spAutoFit/>
          </a:bodyPr>
          <a:lstStyle/>
          <a:p>
            <a:pPr algn="just" marL="546549" indent="-273274" lvl="1">
              <a:lnSpc>
                <a:spcPts val="3544"/>
              </a:lnSpc>
              <a:buAutoNum type="arabicPeriod" startAt="1"/>
            </a:pPr>
            <a:r>
              <a:rPr lang="en-US" sz="2531" spc="75">
                <a:solidFill>
                  <a:srgbClr val="093A47"/>
                </a:solidFill>
                <a:latin typeface="Proxima Nova"/>
                <a:ea typeface="Proxima Nova"/>
                <a:cs typeface="Proxima Nova"/>
                <a:sym typeface="Proxima Nova"/>
              </a:rPr>
              <a:t>Data anotasi masih perlu diperiksa agar label entitas sesuai dengan isi artikel.</a:t>
            </a:r>
          </a:p>
          <a:p>
            <a:pPr algn="just" marL="546549" indent="-273274" lvl="1">
              <a:lnSpc>
                <a:spcPts val="3544"/>
              </a:lnSpc>
              <a:buAutoNum type="arabicPeriod" startAt="1"/>
            </a:pPr>
            <a:r>
              <a:rPr lang="en-US" sz="2531" spc="75">
                <a:solidFill>
                  <a:srgbClr val="093A47"/>
                </a:solidFill>
                <a:latin typeface="Proxima Nova"/>
                <a:ea typeface="Proxima Nova"/>
                <a:cs typeface="Proxima Nova"/>
                <a:sym typeface="Proxima Nova"/>
              </a:rPr>
              <a:t>Kemampuan model dapat berbeda pada setiap kategori entitas dan bahasa.</a:t>
            </a:r>
          </a:p>
          <a:p>
            <a:pPr algn="just" marL="546549" indent="-273274" lvl="1">
              <a:lnSpc>
                <a:spcPts val="3544"/>
              </a:lnSpc>
              <a:buAutoNum type="arabicPeriod" startAt="1"/>
            </a:pPr>
            <a:r>
              <a:rPr lang="en-US" sz="2531" spc="75">
                <a:solidFill>
                  <a:srgbClr val="093A47"/>
                </a:solidFill>
                <a:latin typeface="Proxima Nova"/>
                <a:ea typeface="Proxima Nova"/>
                <a:cs typeface="Proxima Nova"/>
                <a:sym typeface="Proxima Nova"/>
              </a:rPr>
              <a:t>Hasil evaluasi p</a:t>
            </a:r>
            <a:r>
              <a:rPr lang="en-US" sz="2531" spc="75">
                <a:solidFill>
                  <a:srgbClr val="093A47"/>
                </a:solidFill>
                <a:latin typeface="Proxima Nova"/>
                <a:ea typeface="Proxima Nova"/>
                <a:cs typeface="Proxima Nova"/>
                <a:sym typeface="Proxima Nova"/>
              </a:rPr>
              <a:t>erlu diperiksa kembali untuk memastikan perhitungan metrik sudah konsisten.</a:t>
            </a:r>
          </a:p>
          <a:p>
            <a:pPr algn="just" marL="546549" indent="-273274" lvl="1">
              <a:lnSpc>
                <a:spcPts val="3544"/>
              </a:lnSpc>
              <a:buAutoNum type="arabicPeriod" startAt="1"/>
            </a:pPr>
            <a:r>
              <a:rPr lang="en-US" sz="2531" spc="75">
                <a:solidFill>
                  <a:srgbClr val="093A47"/>
                </a:solidFill>
                <a:latin typeface="Proxima Nova"/>
                <a:ea typeface="Proxima Nova"/>
                <a:cs typeface="Proxima Nova"/>
                <a:sym typeface="Proxima Nova"/>
              </a:rPr>
              <a:t>M</a:t>
            </a:r>
            <a:r>
              <a:rPr lang="en-US" sz="2531" spc="75">
                <a:solidFill>
                  <a:srgbClr val="093A47"/>
                </a:solidFill>
                <a:latin typeface="Proxima Nova"/>
                <a:ea typeface="Proxima Nova"/>
                <a:cs typeface="Proxima Nova"/>
                <a:sym typeface="Proxima Nova"/>
              </a:rPr>
              <a:t>odel perlu diuji menggunakan berbagai artikel untuk mengetahui kinerjanya dalam kondisi berbeda.</a:t>
            </a:r>
          </a:p>
          <a:p>
            <a:pPr algn="just">
              <a:lnSpc>
                <a:spcPts val="3544"/>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DFA"/>
        </a:solidFill>
      </p:bgPr>
    </p:bg>
    <p:spTree>
      <p:nvGrpSpPr>
        <p:cNvPr id="1" name=""/>
        <p:cNvGrpSpPr/>
        <p:nvPr/>
      </p:nvGrpSpPr>
      <p:grpSpPr>
        <a:xfrm>
          <a:off x="0" y="0"/>
          <a:ext cx="0" cy="0"/>
          <a:chOff x="0" y="0"/>
          <a:chExt cx="0" cy="0"/>
        </a:xfrm>
      </p:grpSpPr>
      <p:sp>
        <p:nvSpPr>
          <p:cNvPr name="AutoShape 2" id="2"/>
          <p:cNvSpPr/>
          <p:nvPr/>
        </p:nvSpPr>
        <p:spPr>
          <a:xfrm>
            <a:off x="511157" y="9239250"/>
            <a:ext cx="17265685" cy="0"/>
          </a:xfrm>
          <a:prstGeom prst="line">
            <a:avLst/>
          </a:prstGeom>
          <a:ln cap="flat" w="38100">
            <a:solidFill>
              <a:srgbClr val="093A47"/>
            </a:solidFill>
            <a:prstDash val="solid"/>
            <a:headEnd type="none" len="sm" w="sm"/>
            <a:tailEnd type="none" len="sm" w="sm"/>
          </a:ln>
        </p:spPr>
      </p:sp>
      <p:sp>
        <p:nvSpPr>
          <p:cNvPr name="AutoShape 3" id="3"/>
          <p:cNvSpPr/>
          <p:nvPr/>
        </p:nvSpPr>
        <p:spPr>
          <a:xfrm>
            <a:off x="511157" y="1028700"/>
            <a:ext cx="17265685" cy="0"/>
          </a:xfrm>
          <a:prstGeom prst="line">
            <a:avLst/>
          </a:prstGeom>
          <a:ln cap="flat" w="38100">
            <a:solidFill>
              <a:srgbClr val="093A47"/>
            </a:solidFill>
            <a:prstDash val="solid"/>
            <a:headEnd type="none" len="sm" w="sm"/>
            <a:tailEnd type="none" len="sm" w="sm"/>
          </a:ln>
        </p:spPr>
      </p:sp>
      <p:sp>
        <p:nvSpPr>
          <p:cNvPr name="Freeform 4" id="4"/>
          <p:cNvSpPr/>
          <p:nvPr/>
        </p:nvSpPr>
        <p:spPr>
          <a:xfrm flipH="true" flipV="false" rot="0">
            <a:off x="17473987" y="9485033"/>
            <a:ext cx="302856" cy="302856"/>
          </a:xfrm>
          <a:custGeom>
            <a:avLst/>
            <a:gdLst/>
            <a:ahLst/>
            <a:cxnLst/>
            <a:rect r="r" b="b" t="t" l="l"/>
            <a:pathLst>
              <a:path h="302856" w="302856">
                <a:moveTo>
                  <a:pt x="302856" y="0"/>
                </a:moveTo>
                <a:lnTo>
                  <a:pt x="0" y="0"/>
                </a:lnTo>
                <a:lnTo>
                  <a:pt x="0" y="302856"/>
                </a:lnTo>
                <a:lnTo>
                  <a:pt x="302856" y="302856"/>
                </a:lnTo>
                <a:lnTo>
                  <a:pt x="30285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511157" y="359544"/>
            <a:ext cx="458544" cy="431031"/>
          </a:xfrm>
          <a:custGeom>
            <a:avLst/>
            <a:gdLst/>
            <a:ahLst/>
            <a:cxnLst/>
            <a:rect r="r" b="b" t="t" l="l"/>
            <a:pathLst>
              <a:path h="431031" w="458544">
                <a:moveTo>
                  <a:pt x="0" y="0"/>
                </a:moveTo>
                <a:lnTo>
                  <a:pt x="458545" y="0"/>
                </a:lnTo>
                <a:lnTo>
                  <a:pt x="458545" y="431031"/>
                </a:lnTo>
                <a:lnTo>
                  <a:pt x="0" y="4310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1017327" y="377873"/>
            <a:ext cx="1939146" cy="356210"/>
          </a:xfrm>
          <a:prstGeom prst="rect">
            <a:avLst/>
          </a:prstGeom>
        </p:spPr>
        <p:txBody>
          <a:bodyPr anchor="t" rtlCol="false" tIns="0" lIns="0" bIns="0" rIns="0">
            <a:spAutoFit/>
          </a:bodyPr>
          <a:lstStyle/>
          <a:p>
            <a:pPr algn="l">
              <a:lnSpc>
                <a:spcPts val="2940"/>
              </a:lnSpc>
            </a:pPr>
            <a:r>
              <a:rPr lang="en-US" sz="2100">
                <a:solidFill>
                  <a:srgbClr val="093A47"/>
                </a:solidFill>
                <a:latin typeface="Proxima Nova"/>
                <a:ea typeface="Proxima Nova"/>
                <a:cs typeface="Proxima Nova"/>
                <a:sym typeface="Proxima Nova"/>
              </a:rPr>
              <a:t>Data Science</a:t>
            </a:r>
          </a:p>
        </p:txBody>
      </p:sp>
      <p:sp>
        <p:nvSpPr>
          <p:cNvPr name="TextBox 7" id="7"/>
          <p:cNvSpPr txBox="true"/>
          <p:nvPr/>
        </p:nvSpPr>
        <p:spPr>
          <a:xfrm rot="0">
            <a:off x="13832455" y="377873"/>
            <a:ext cx="3465731" cy="356272"/>
          </a:xfrm>
          <a:prstGeom prst="rect">
            <a:avLst/>
          </a:prstGeom>
        </p:spPr>
        <p:txBody>
          <a:bodyPr anchor="t" rtlCol="false" tIns="0" lIns="0" bIns="0" rIns="0">
            <a:spAutoFit/>
          </a:bodyPr>
          <a:lstStyle/>
          <a:p>
            <a:pPr algn="r">
              <a:lnSpc>
                <a:spcPts val="2940"/>
              </a:lnSpc>
            </a:pPr>
            <a:r>
              <a:rPr lang="en-US" sz="2100">
                <a:solidFill>
                  <a:srgbClr val="093A47"/>
                </a:solidFill>
                <a:latin typeface="Proxima Nova"/>
                <a:ea typeface="Proxima Nova"/>
                <a:cs typeface="Proxima Nova"/>
                <a:sym typeface="Proxima Nova"/>
              </a:rPr>
              <a:t>Modern Tech Presentation</a:t>
            </a:r>
          </a:p>
        </p:txBody>
      </p:sp>
      <p:sp>
        <p:nvSpPr>
          <p:cNvPr name="TextBox 8" id="8"/>
          <p:cNvSpPr txBox="true"/>
          <p:nvPr/>
        </p:nvSpPr>
        <p:spPr>
          <a:xfrm rot="0">
            <a:off x="5534612" y="3971753"/>
            <a:ext cx="8571173" cy="2629244"/>
          </a:xfrm>
          <a:prstGeom prst="rect">
            <a:avLst/>
          </a:prstGeom>
        </p:spPr>
        <p:txBody>
          <a:bodyPr anchor="t" rtlCol="false" tIns="0" lIns="0" bIns="0" rIns="0">
            <a:spAutoFit/>
          </a:bodyPr>
          <a:lstStyle/>
          <a:p>
            <a:pPr algn="l">
              <a:lnSpc>
                <a:spcPts val="9959"/>
              </a:lnSpc>
            </a:pPr>
            <a:r>
              <a:rPr lang="en-US" sz="11065">
                <a:solidFill>
                  <a:srgbClr val="093A47"/>
                </a:solidFill>
                <a:latin typeface="Bebas Neue Cyrillic"/>
                <a:ea typeface="Bebas Neue Cyrillic"/>
                <a:cs typeface="Bebas Neue Cyrillic"/>
                <a:sym typeface="Bebas Neue Cyrillic"/>
              </a:rPr>
              <a:t>tHANK YOU FOR ATTENTION</a:t>
            </a:r>
          </a:p>
        </p:txBody>
      </p:sp>
      <p:sp>
        <p:nvSpPr>
          <p:cNvPr name="TextBox 9" id="9"/>
          <p:cNvSpPr txBox="true"/>
          <p:nvPr/>
        </p:nvSpPr>
        <p:spPr>
          <a:xfrm rot="0">
            <a:off x="783669" y="2860747"/>
            <a:ext cx="4205103" cy="554441"/>
          </a:xfrm>
          <a:prstGeom prst="rect">
            <a:avLst/>
          </a:prstGeom>
        </p:spPr>
        <p:txBody>
          <a:bodyPr anchor="t" rtlCol="false" tIns="0" lIns="0" bIns="0" rIns="0">
            <a:spAutoFit/>
          </a:bodyPr>
          <a:lstStyle/>
          <a:p>
            <a:pPr algn="ctr">
              <a:lnSpc>
                <a:spcPts val="4096"/>
              </a:lnSpc>
            </a:pPr>
            <a:r>
              <a:rPr lang="en-US" sz="4551" spc="1001">
                <a:solidFill>
                  <a:srgbClr val="FFFDFA"/>
                </a:solidFill>
                <a:latin typeface="Bebas Neue Cyrillic"/>
                <a:ea typeface="Bebas Neue Cyrillic"/>
                <a:cs typeface="Bebas Neue Cyrillic"/>
                <a:sym typeface="Bebas Neue Cyrillic"/>
              </a:rPr>
              <a:t>Presentation</a:t>
            </a:r>
          </a:p>
        </p:txBody>
      </p:sp>
      <p:grpSp>
        <p:nvGrpSpPr>
          <p:cNvPr name="Group 10" id="10"/>
          <p:cNvGrpSpPr/>
          <p:nvPr/>
        </p:nvGrpSpPr>
        <p:grpSpPr>
          <a:xfrm rot="0">
            <a:off x="17345811" y="359544"/>
            <a:ext cx="431031" cy="43103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93A47"/>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940"/>
                </a:lnSpc>
              </a:pPr>
            </a:p>
          </p:txBody>
        </p:sp>
      </p:grpSp>
      <p:sp>
        <p:nvSpPr>
          <p:cNvPr name="TextBox 13" id="13"/>
          <p:cNvSpPr txBox="true"/>
          <p:nvPr/>
        </p:nvSpPr>
        <p:spPr>
          <a:xfrm rot="0">
            <a:off x="17399942" y="478460"/>
            <a:ext cx="322770" cy="231298"/>
          </a:xfrm>
          <a:prstGeom prst="rect">
            <a:avLst/>
          </a:prstGeom>
        </p:spPr>
        <p:txBody>
          <a:bodyPr anchor="t" rtlCol="false" tIns="0" lIns="0" bIns="0" rIns="0">
            <a:spAutoFit/>
          </a:bodyPr>
          <a:lstStyle/>
          <a:p>
            <a:pPr algn="ctr">
              <a:lnSpc>
                <a:spcPts val="1639"/>
              </a:lnSpc>
            </a:pPr>
            <a:r>
              <a:rPr lang="en-US" sz="1821">
                <a:solidFill>
                  <a:srgbClr val="FFFDFA"/>
                </a:solidFill>
                <a:latin typeface="Bebas Neue Cyrillic"/>
                <a:ea typeface="Bebas Neue Cyrillic"/>
                <a:cs typeface="Bebas Neue Cyrillic"/>
                <a:sym typeface="Bebas Neue Cyrillic"/>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DAHZNJUHh94</dc:identifier>
  <dcterms:modified xsi:type="dcterms:W3CDTF">2011-08-01T06:04:30Z</dcterms:modified>
  <cp:revision>1</cp:revision>
  <dc:title>Green and Orange Modern Machine Learning Presentation</dc:title>
</cp:coreProperties>
</file>